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Oval 1"/>
          <p:cNvSpPr/>
          <p:nvPr/>
        </p:nvSpPr>
        <p:spPr>
          <a:xfrm>
            <a:off x="6400800" y="-594360"/>
            <a:ext cx="8046720" cy="8046720"/>
          </a:xfrm>
          <a:prstGeom prst="ellipse">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223760" y="228600"/>
            <a:ext cx="6400800" cy="6400800"/>
          </a:xfrm>
          <a:prstGeom prst="ellipse">
            <a:avLst/>
          </a:prstGeom>
          <a:solidFill>
            <a:srgbClr val="353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0" y="-2743200"/>
            <a:ext cx="4023360" cy="402336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377440" y="6035040"/>
            <a:ext cx="3291840" cy="32918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789920" y="5577840"/>
            <a:ext cx="2194560" cy="219456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005840"/>
            <a:ext cx="7772400" cy="320040"/>
          </a:xfrm>
          <a:prstGeom prst="rect">
            <a:avLst/>
          </a:prstGeom>
          <a:noFill/>
        </p:spPr>
        <p:txBody>
          <a:bodyPr wrap="square" lIns="0" tIns="0" rIns="0" bIns="0">
            <a:spAutoFit/>
          </a:bodyPr>
          <a:lstStyle/>
          <a:p>
            <a:pPr algn="l"/>
            <a:r>
              <a:rPr sz="1000" b="1" i="0">
                <a:solidFill>
                  <a:srgbClr val="5C6898"/>
                </a:solidFill>
                <a:latin typeface="Georgia"/>
              </a:rPr>
              <a:t>RESEARCH PRESENTATION  ·  GROUP 8</a:t>
            </a:r>
          </a:p>
        </p:txBody>
      </p:sp>
      <p:sp>
        <p:nvSpPr>
          <p:cNvPr id="8" name="TextBox 7"/>
          <p:cNvSpPr txBox="1"/>
          <p:nvPr/>
        </p:nvSpPr>
        <p:spPr>
          <a:xfrm>
            <a:off x="777240" y="1371600"/>
            <a:ext cx="7772400" cy="2377440"/>
          </a:xfrm>
          <a:prstGeom prst="rect">
            <a:avLst/>
          </a:prstGeom>
          <a:noFill/>
        </p:spPr>
        <p:txBody>
          <a:bodyPr wrap="square" lIns="0" tIns="0" rIns="0" bIns="0">
            <a:spAutoFit/>
          </a:bodyPr>
          <a:lstStyle/>
          <a:p>
            <a:pPr algn="l"/>
            <a:r>
              <a:rPr sz="3600" b="0" i="0">
                <a:solidFill>
                  <a:srgbClr val="2C3461"/>
                </a:solidFill>
                <a:latin typeface="Candal"/>
              </a:rPr>
              <a:t>Cloud Misconfiguration
Detection Using
Machine Learning</a:t>
            </a:r>
          </a:p>
        </p:txBody>
      </p:sp>
      <p:sp>
        <p:nvSpPr>
          <p:cNvPr id="9" name="Rectangle 8"/>
          <p:cNvSpPr/>
          <p:nvPr/>
        </p:nvSpPr>
        <p:spPr>
          <a:xfrm>
            <a:off x="777240" y="3977639"/>
            <a:ext cx="2194560" cy="45720"/>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160520"/>
            <a:ext cx="7772400" cy="640080"/>
          </a:xfrm>
          <a:prstGeom prst="rect">
            <a:avLst/>
          </a:prstGeom>
          <a:noFill/>
        </p:spPr>
        <p:txBody>
          <a:bodyPr wrap="square" lIns="0" tIns="0" rIns="0" bIns="0">
            <a:spAutoFit/>
          </a:bodyPr>
          <a:lstStyle/>
          <a:p>
            <a:pPr algn="l"/>
            <a:r>
              <a:rPr sz="1300" b="0" i="1">
                <a:solidFill>
                  <a:srgbClr val="6E748A"/>
                </a:solidFill>
                <a:latin typeface="Georgia"/>
              </a:rPr>
              <a:t>An Intelligent Multi-Domain Framework for Kubernetes,
IAM Policies &amp; Cloud Storage with GNN and Verified Fixes</a:t>
            </a:r>
          </a:p>
        </p:txBody>
      </p:sp>
      <p:sp>
        <p:nvSpPr>
          <p:cNvPr id="11" name="Rectangle 10"/>
          <p:cNvSpPr/>
          <p:nvPr/>
        </p:nvSpPr>
        <p:spPr>
          <a:xfrm>
            <a:off x="777240" y="4983480"/>
            <a:ext cx="7132320" cy="36576"/>
          </a:xfrm>
          <a:prstGeom prst="rect">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38928"/>
            <a:ext cx="7132320" cy="868680"/>
          </a:xfrm>
          <a:prstGeom prst="rect">
            <a:avLst/>
          </a:prstGeom>
          <a:noFill/>
        </p:spPr>
        <p:txBody>
          <a:bodyPr wrap="square" lIns="0" tIns="0" rIns="0" bIns="0">
            <a:spAutoFit/>
          </a:bodyPr>
          <a:lstStyle/>
          <a:p>
            <a:pPr algn="l"/>
            <a:r>
              <a:rPr sz="1100" b="0" i="0">
                <a:solidFill>
                  <a:srgbClr val="343434"/>
                </a:solidFill>
                <a:latin typeface="Georgia"/>
              </a:rPr>
              <a:t>Presenters / Authors:
• Israt Jahan Rani  (ID: 011201376)
• Robiul Islam Tamim (ID: 011212039)</a:t>
            </a:r>
          </a:p>
        </p:txBody>
      </p:sp>
      <p:sp>
        <p:nvSpPr>
          <p:cNvPr id="13" name="TextBox 12"/>
          <p:cNvSpPr txBox="1"/>
          <p:nvPr/>
        </p:nvSpPr>
        <p:spPr>
          <a:xfrm>
            <a:off x="9052560" y="1463040"/>
            <a:ext cx="2743200" cy="1005840"/>
          </a:xfrm>
          <a:prstGeom prst="rect">
            <a:avLst/>
          </a:prstGeom>
          <a:noFill/>
        </p:spPr>
        <p:txBody>
          <a:bodyPr wrap="square" lIns="0" tIns="0" rIns="0" bIns="0">
            <a:spAutoFit/>
          </a:bodyPr>
          <a:lstStyle/>
          <a:p>
            <a:pPr algn="ctr"/>
            <a:r>
              <a:rPr sz="2600" b="0" i="0">
                <a:solidFill>
                  <a:srgbClr val="FFFFFF"/>
                </a:solidFill>
                <a:latin typeface="Candal"/>
              </a:rPr>
              <a:t>3
Cloud Domains</a:t>
            </a:r>
          </a:p>
        </p:txBody>
      </p:sp>
      <p:sp>
        <p:nvSpPr>
          <p:cNvPr id="14" name="TextBox 13"/>
          <p:cNvSpPr txBox="1"/>
          <p:nvPr/>
        </p:nvSpPr>
        <p:spPr>
          <a:xfrm>
            <a:off x="9052560" y="2606040"/>
            <a:ext cx="2743200" cy="1005840"/>
          </a:xfrm>
          <a:prstGeom prst="rect">
            <a:avLst/>
          </a:prstGeom>
          <a:noFill/>
        </p:spPr>
        <p:txBody>
          <a:bodyPr wrap="square" lIns="0" tIns="0" rIns="0" bIns="0">
            <a:spAutoFit/>
          </a:bodyPr>
          <a:lstStyle/>
          <a:p>
            <a:pPr algn="ctr"/>
            <a:r>
              <a:rPr sz="2600" b="0" i="0">
                <a:solidFill>
                  <a:srgbClr val="FFFFFF"/>
                </a:solidFill>
                <a:latin typeface="Candal"/>
              </a:rPr>
              <a:t>4
Pipeline Stages</a:t>
            </a:r>
          </a:p>
        </p:txBody>
      </p:sp>
      <p:sp>
        <p:nvSpPr>
          <p:cNvPr id="15" name="TextBox 14"/>
          <p:cNvSpPr txBox="1"/>
          <p:nvPr/>
        </p:nvSpPr>
        <p:spPr>
          <a:xfrm>
            <a:off x="9052560" y="3794760"/>
            <a:ext cx="2743200" cy="1005840"/>
          </a:xfrm>
          <a:prstGeom prst="rect">
            <a:avLst/>
          </a:prstGeom>
          <a:noFill/>
        </p:spPr>
        <p:txBody>
          <a:bodyPr wrap="square" lIns="0" tIns="0" rIns="0" bIns="0">
            <a:spAutoFit/>
          </a:bodyPr>
          <a:lstStyle/>
          <a:p>
            <a:pPr algn="ctr"/>
            <a:r>
              <a:rPr sz="2600" b="0" i="0">
                <a:solidFill>
                  <a:srgbClr val="FFFFFF"/>
                </a:solidFill>
                <a:latin typeface="Candal"/>
              </a:rPr>
              <a:t>1,100
Manifests</a:t>
            </a:r>
          </a:p>
        </p:txBody>
      </p:sp>
      <p:sp>
        <p:nvSpPr>
          <p:cNvPr id="16" name="TextBox 15"/>
          <p:cNvSpPr txBox="1"/>
          <p:nvPr/>
        </p:nvSpPr>
        <p:spPr>
          <a:xfrm>
            <a:off x="9052560" y="4983480"/>
            <a:ext cx="2743200" cy="914400"/>
          </a:xfrm>
          <a:prstGeom prst="rect">
            <a:avLst/>
          </a:prstGeom>
          <a:noFill/>
        </p:spPr>
        <p:txBody>
          <a:bodyPr wrap="square" lIns="0" tIns="0" rIns="0" bIns="0">
            <a:spAutoFit/>
          </a:bodyPr>
          <a:lstStyle/>
          <a:p>
            <a:pPr algn="ctr"/>
            <a:r>
              <a:rPr sz="2600" b="0" i="0">
                <a:solidFill>
                  <a:srgbClr val="FFFFFF"/>
                </a:solidFill>
                <a:latin typeface="Candal"/>
              </a:rPr>
              <a:t>&gt;90%
API Cost Saved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Oval 1"/>
          <p:cNvSpPr/>
          <p:nvPr/>
        </p:nvSpPr>
        <p:spPr>
          <a:xfrm>
            <a:off x="10149840" y="-36576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81360" y="-292608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474720" y="54864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0" y="621792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07040" y="6035040"/>
            <a:ext cx="2194560" cy="219456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65760" y="-1005840"/>
            <a:ext cx="1645920" cy="164592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47688"/>
            <a:ext cx="12191695" cy="210312"/>
          </a:xfrm>
          <a:prstGeom prst="rect">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65976"/>
            <a:ext cx="11064240" cy="182880"/>
          </a:xfrm>
          <a:prstGeom prst="rect">
            <a:avLst/>
          </a:prstGeom>
          <a:noFill/>
        </p:spPr>
        <p:txBody>
          <a:bodyPr wrap="square" lIns="0" tIns="0" rIns="0" bIns="0">
            <a:spAutoFit/>
          </a:bodyPr>
          <a:lstStyle/>
          <a:p>
            <a:pPr algn="l"/>
            <a:r>
              <a:rPr sz="850" b="0" i="0">
                <a:solidFill>
                  <a:srgbClr val="6E748A"/>
                </a:solidFill>
                <a:latin typeface="Georgia"/>
              </a:rPr>
              <a:t>Cloud Misconfiguration Detection Using Machine Learning  |  Group 8  |  Slide 2 of 9</a:t>
            </a:r>
          </a:p>
        </p:txBody>
      </p:sp>
      <p:sp>
        <p:nvSpPr>
          <p:cNvPr id="10" name="TextBox 9"/>
          <p:cNvSpPr txBox="1"/>
          <p:nvPr/>
        </p:nvSpPr>
        <p:spPr>
          <a:xfrm>
            <a:off x="548640" y="256032"/>
            <a:ext cx="10058400" cy="228600"/>
          </a:xfrm>
          <a:prstGeom prst="rect">
            <a:avLst/>
          </a:prstGeom>
          <a:noFill/>
        </p:spPr>
        <p:txBody>
          <a:bodyPr wrap="square" lIns="0" tIns="0" rIns="0" bIns="0">
            <a:spAutoFit/>
          </a:bodyPr>
          <a:lstStyle/>
          <a:p>
            <a:pPr algn="l"/>
            <a:r>
              <a:rPr sz="900" b="1" i="0">
                <a:solidFill>
                  <a:srgbClr val="5C6898"/>
                </a:solidFill>
                <a:latin typeface="Georgia"/>
              </a:rPr>
              <a:t>SECTION I — RESEARCH OBJECTIVES</a:t>
            </a:r>
          </a:p>
        </p:txBody>
      </p:sp>
      <p:sp>
        <p:nvSpPr>
          <p:cNvPr id="11" name="TextBox 10"/>
          <p:cNvSpPr txBox="1"/>
          <p:nvPr/>
        </p:nvSpPr>
        <p:spPr>
          <a:xfrm>
            <a:off x="548640" y="502920"/>
            <a:ext cx="10515600" cy="777240"/>
          </a:xfrm>
          <a:prstGeom prst="rect">
            <a:avLst/>
          </a:prstGeom>
          <a:noFill/>
        </p:spPr>
        <p:txBody>
          <a:bodyPr wrap="square" lIns="0" tIns="0" rIns="0" bIns="0">
            <a:spAutoFit/>
          </a:bodyPr>
          <a:lstStyle/>
          <a:p>
            <a:pPr algn="l"/>
            <a:r>
              <a:rPr sz="2400" b="0" i="0">
                <a:solidFill>
                  <a:srgbClr val="2C3461"/>
                </a:solidFill>
                <a:latin typeface="Candal"/>
              </a:rPr>
              <a:t>Proposed Objectives Mapped to Identified Gaps</a:t>
            </a:r>
          </a:p>
        </p:txBody>
      </p:sp>
      <p:sp>
        <p:nvSpPr>
          <p:cNvPr id="12" name="Rectangle 11"/>
          <p:cNvSpPr/>
          <p:nvPr/>
        </p:nvSpPr>
        <p:spPr>
          <a:xfrm>
            <a:off x="548640" y="1261872"/>
            <a:ext cx="1645920" cy="36576"/>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371600"/>
            <a:ext cx="10515600" cy="256032"/>
          </a:xfrm>
          <a:prstGeom prst="rect">
            <a:avLst/>
          </a:prstGeom>
          <a:noFill/>
        </p:spPr>
        <p:txBody>
          <a:bodyPr wrap="square" lIns="0" tIns="0" rIns="0" bIns="0">
            <a:spAutoFit/>
          </a:bodyPr>
          <a:lstStyle/>
          <a:p>
            <a:pPr algn="l"/>
            <a:r>
              <a:rPr sz="1050" b="0" i="1">
                <a:solidFill>
                  <a:srgbClr val="6E748A"/>
                </a:solidFill>
                <a:latin typeface="Georgia"/>
              </a:rPr>
              <a:t>Engineered to overcome the single-file blindness, high API latency, and invalid fixes of existing scanners.</a:t>
            </a:r>
          </a:p>
        </p:txBody>
      </p:sp>
      <p:sp>
        <p:nvSpPr>
          <p:cNvPr id="14" name="Rounded Rectangle 13"/>
          <p:cNvSpPr/>
          <p:nvPr/>
        </p:nvSpPr>
        <p:spPr>
          <a:xfrm>
            <a:off x="548640" y="1691640"/>
            <a:ext cx="11091672" cy="109728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1691640"/>
            <a:ext cx="73152" cy="1097280"/>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4944" y="1801368"/>
            <a:ext cx="530352" cy="402336"/>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1810512"/>
            <a:ext cx="530352" cy="365760"/>
          </a:xfrm>
          <a:prstGeom prst="rect">
            <a:avLst/>
          </a:prstGeom>
          <a:noFill/>
        </p:spPr>
        <p:txBody>
          <a:bodyPr wrap="square" lIns="0" tIns="0" rIns="0" bIns="0">
            <a:spAutoFit/>
          </a:bodyPr>
          <a:lstStyle/>
          <a:p>
            <a:pPr algn="ctr"/>
            <a:r>
              <a:rPr sz="1600" b="0" i="0">
                <a:solidFill>
                  <a:srgbClr val="FFFFFF"/>
                </a:solidFill>
                <a:latin typeface="Candal"/>
              </a:rPr>
              <a:t>01</a:t>
            </a:r>
          </a:p>
        </p:txBody>
      </p:sp>
      <p:sp>
        <p:nvSpPr>
          <p:cNvPr id="18" name="TextBox 17"/>
          <p:cNvSpPr txBox="1"/>
          <p:nvPr/>
        </p:nvSpPr>
        <p:spPr>
          <a:xfrm>
            <a:off x="1353312" y="1783080"/>
            <a:ext cx="7498079" cy="292608"/>
          </a:xfrm>
          <a:prstGeom prst="rect">
            <a:avLst/>
          </a:prstGeom>
          <a:noFill/>
        </p:spPr>
        <p:txBody>
          <a:bodyPr wrap="square" lIns="0" tIns="0" rIns="0" bIns="0">
            <a:spAutoFit/>
          </a:bodyPr>
          <a:lstStyle/>
          <a:p>
            <a:pPr algn="l"/>
            <a:r>
              <a:rPr sz="1200" b="1" i="0">
                <a:solidFill>
                  <a:srgbClr val="2C3461"/>
                </a:solidFill>
                <a:latin typeface="Georgia"/>
              </a:rPr>
              <a:t>Multi-Domain Security Graphing &amp; GNN Detection</a:t>
            </a:r>
          </a:p>
        </p:txBody>
      </p:sp>
      <p:sp>
        <p:nvSpPr>
          <p:cNvPr id="19" name="TextBox 18"/>
          <p:cNvSpPr txBox="1"/>
          <p:nvPr/>
        </p:nvSpPr>
        <p:spPr>
          <a:xfrm>
            <a:off x="8595360" y="1783080"/>
            <a:ext cx="2926080" cy="274320"/>
          </a:xfrm>
          <a:prstGeom prst="rect">
            <a:avLst/>
          </a:prstGeom>
          <a:noFill/>
        </p:spPr>
        <p:txBody>
          <a:bodyPr wrap="square" lIns="0" tIns="0" rIns="0" bIns="0">
            <a:spAutoFit/>
          </a:bodyPr>
          <a:lstStyle/>
          <a:p>
            <a:pPr algn="r"/>
            <a:r>
              <a:rPr sz="950" b="1" i="0">
                <a:solidFill>
                  <a:srgbClr val="2C3461"/>
                </a:solidFill>
                <a:latin typeface="Georgia"/>
              </a:rPr>
              <a:t>[Resolves: Single-File Isolation &amp; Layer Blindness]</a:t>
            </a:r>
          </a:p>
        </p:txBody>
      </p:sp>
      <p:sp>
        <p:nvSpPr>
          <p:cNvPr id="20" name="TextBox 19"/>
          <p:cNvSpPr txBox="1"/>
          <p:nvPr/>
        </p:nvSpPr>
        <p:spPr>
          <a:xfrm>
            <a:off x="1353312" y="2103120"/>
            <a:ext cx="10058400" cy="621792"/>
          </a:xfrm>
          <a:prstGeom prst="rect">
            <a:avLst/>
          </a:prstGeom>
          <a:noFill/>
        </p:spPr>
        <p:txBody>
          <a:bodyPr wrap="square" lIns="0" tIns="0" rIns="0" bIns="0">
            <a:spAutoFit/>
          </a:bodyPr>
          <a:lstStyle/>
          <a:p>
            <a:pPr algn="l"/>
            <a:r>
              <a:rPr sz="1000" b="0" i="0">
                <a:solidFill>
                  <a:srgbClr val="343434"/>
                </a:solidFill>
                <a:latin typeface="Georgia"/>
              </a:rPr>
              <a:t>Ingest heterogeneous Kubernetes YAML, IAM JSON, and SAM files into a unified directed security graph. Train a Graph Neural Network (GNN) to discover lateral attack chains crossing multiple separate files.</a:t>
            </a:r>
          </a:p>
        </p:txBody>
      </p:sp>
      <p:sp>
        <p:nvSpPr>
          <p:cNvPr id="21" name="Rounded Rectangle 20"/>
          <p:cNvSpPr/>
          <p:nvPr/>
        </p:nvSpPr>
        <p:spPr>
          <a:xfrm>
            <a:off x="548640" y="2898648"/>
            <a:ext cx="11091672" cy="109728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2898648"/>
            <a:ext cx="73152" cy="1097280"/>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4944" y="3008376"/>
            <a:ext cx="530352" cy="402336"/>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3017520"/>
            <a:ext cx="530352" cy="365760"/>
          </a:xfrm>
          <a:prstGeom prst="rect">
            <a:avLst/>
          </a:prstGeom>
          <a:noFill/>
        </p:spPr>
        <p:txBody>
          <a:bodyPr wrap="square" lIns="0" tIns="0" rIns="0" bIns="0">
            <a:spAutoFit/>
          </a:bodyPr>
          <a:lstStyle/>
          <a:p>
            <a:pPr algn="ctr"/>
            <a:r>
              <a:rPr sz="1600" b="0" i="0">
                <a:solidFill>
                  <a:srgbClr val="FFFFFF"/>
                </a:solidFill>
                <a:latin typeface="Candal"/>
              </a:rPr>
              <a:t>02</a:t>
            </a:r>
          </a:p>
        </p:txBody>
      </p:sp>
      <p:sp>
        <p:nvSpPr>
          <p:cNvPr id="25" name="TextBox 24"/>
          <p:cNvSpPr txBox="1"/>
          <p:nvPr/>
        </p:nvSpPr>
        <p:spPr>
          <a:xfrm>
            <a:off x="1353312" y="2990088"/>
            <a:ext cx="7498079" cy="292608"/>
          </a:xfrm>
          <a:prstGeom prst="rect">
            <a:avLst/>
          </a:prstGeom>
          <a:noFill/>
        </p:spPr>
        <p:txBody>
          <a:bodyPr wrap="square" lIns="0" tIns="0" rIns="0" bIns="0">
            <a:spAutoFit/>
          </a:bodyPr>
          <a:lstStyle/>
          <a:p>
            <a:pPr algn="l"/>
            <a:r>
              <a:rPr sz="1200" b="1" i="0">
                <a:solidFill>
                  <a:srgbClr val="2C3461"/>
                </a:solidFill>
                <a:latin typeface="Georgia"/>
              </a:rPr>
              <a:t>Context-Aware Intent Understanding via NLP</a:t>
            </a:r>
          </a:p>
        </p:txBody>
      </p:sp>
      <p:sp>
        <p:nvSpPr>
          <p:cNvPr id="26" name="TextBox 25"/>
          <p:cNvSpPr txBox="1"/>
          <p:nvPr/>
        </p:nvSpPr>
        <p:spPr>
          <a:xfrm>
            <a:off x="8595360" y="2990088"/>
            <a:ext cx="2926080" cy="274320"/>
          </a:xfrm>
          <a:prstGeom prst="rect">
            <a:avLst/>
          </a:prstGeom>
          <a:noFill/>
        </p:spPr>
        <p:txBody>
          <a:bodyPr wrap="square" lIns="0" tIns="0" rIns="0" bIns="0">
            <a:spAutoFit/>
          </a:bodyPr>
          <a:lstStyle/>
          <a:p>
            <a:pPr algn="r"/>
            <a:r>
              <a:rPr sz="950" b="1" i="0">
                <a:solidFill>
                  <a:srgbClr val="5C6898"/>
                </a:solidFill>
                <a:latin typeface="Georgia"/>
              </a:rPr>
              <a:t>[Resolves: Intent-Blind Signature Matching]</a:t>
            </a:r>
          </a:p>
        </p:txBody>
      </p:sp>
      <p:sp>
        <p:nvSpPr>
          <p:cNvPr id="27" name="TextBox 26"/>
          <p:cNvSpPr txBox="1"/>
          <p:nvPr/>
        </p:nvSpPr>
        <p:spPr>
          <a:xfrm>
            <a:off x="1353312" y="3310128"/>
            <a:ext cx="10058400" cy="621792"/>
          </a:xfrm>
          <a:prstGeom prst="rect">
            <a:avLst/>
          </a:prstGeom>
          <a:noFill/>
        </p:spPr>
        <p:txBody>
          <a:bodyPr wrap="square" lIns="0" tIns="0" rIns="0" bIns="0">
            <a:spAutoFit/>
          </a:bodyPr>
          <a:lstStyle/>
          <a:p>
            <a:pPr algn="l"/>
            <a:r>
              <a:rPr sz="1000" b="0" i="0">
                <a:solidFill>
                  <a:srgbClr val="343434"/>
                </a:solidFill>
                <a:latin typeface="Georgia"/>
              </a:rPr>
              <a:t>Extract inline comments, metadata tags, and naming conventions to infer developer business intent. Differentiate accidental exposures from deliberate public assets (e.g. static website CDNs), suppressing false alarms.</a:t>
            </a:r>
          </a:p>
        </p:txBody>
      </p:sp>
      <p:sp>
        <p:nvSpPr>
          <p:cNvPr id="28" name="Rounded Rectangle 27"/>
          <p:cNvSpPr/>
          <p:nvPr/>
        </p:nvSpPr>
        <p:spPr>
          <a:xfrm>
            <a:off x="548640" y="4105656"/>
            <a:ext cx="11091672" cy="109728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105656"/>
            <a:ext cx="73152" cy="1097280"/>
          </a:xfrm>
          <a:prstGeom prst="rect">
            <a:avLst/>
          </a:prstGeom>
          <a:solidFill>
            <a:srgbClr val="C49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4944" y="4215384"/>
            <a:ext cx="530352" cy="402336"/>
          </a:xfrm>
          <a:prstGeom prst="rect">
            <a:avLst/>
          </a:prstGeom>
          <a:solidFill>
            <a:srgbClr val="C49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4224528"/>
            <a:ext cx="530352" cy="365760"/>
          </a:xfrm>
          <a:prstGeom prst="rect">
            <a:avLst/>
          </a:prstGeom>
          <a:noFill/>
        </p:spPr>
        <p:txBody>
          <a:bodyPr wrap="square" lIns="0" tIns="0" rIns="0" bIns="0">
            <a:spAutoFit/>
          </a:bodyPr>
          <a:lstStyle/>
          <a:p>
            <a:pPr algn="ctr"/>
            <a:r>
              <a:rPr sz="1600" b="0" i="0">
                <a:solidFill>
                  <a:srgbClr val="FFFFFF"/>
                </a:solidFill>
                <a:latin typeface="Candal"/>
              </a:rPr>
              <a:t>03</a:t>
            </a:r>
          </a:p>
        </p:txBody>
      </p:sp>
      <p:sp>
        <p:nvSpPr>
          <p:cNvPr id="32" name="TextBox 31"/>
          <p:cNvSpPr txBox="1"/>
          <p:nvPr/>
        </p:nvSpPr>
        <p:spPr>
          <a:xfrm>
            <a:off x="1353312" y="4197096"/>
            <a:ext cx="7498079" cy="292608"/>
          </a:xfrm>
          <a:prstGeom prst="rect">
            <a:avLst/>
          </a:prstGeom>
          <a:noFill/>
        </p:spPr>
        <p:txBody>
          <a:bodyPr wrap="square" lIns="0" tIns="0" rIns="0" bIns="0">
            <a:spAutoFit/>
          </a:bodyPr>
          <a:lstStyle/>
          <a:p>
            <a:pPr algn="l"/>
            <a:r>
              <a:rPr sz="1200" b="1" i="0">
                <a:solidFill>
                  <a:srgbClr val="2C3461"/>
                </a:solidFill>
                <a:latin typeface="Georgia"/>
              </a:rPr>
              <a:t>Tiered Hybrid Machine Learning Triage</a:t>
            </a:r>
          </a:p>
        </p:txBody>
      </p:sp>
      <p:sp>
        <p:nvSpPr>
          <p:cNvPr id="33" name="TextBox 32"/>
          <p:cNvSpPr txBox="1"/>
          <p:nvPr/>
        </p:nvSpPr>
        <p:spPr>
          <a:xfrm>
            <a:off x="8595360" y="4197096"/>
            <a:ext cx="2926080" cy="274320"/>
          </a:xfrm>
          <a:prstGeom prst="rect">
            <a:avLst/>
          </a:prstGeom>
          <a:noFill/>
        </p:spPr>
        <p:txBody>
          <a:bodyPr wrap="square" lIns="0" tIns="0" rIns="0" bIns="0">
            <a:spAutoFit/>
          </a:bodyPr>
          <a:lstStyle/>
          <a:p>
            <a:pPr algn="r"/>
            <a:r>
              <a:rPr sz="950" b="1" i="0">
                <a:solidFill>
                  <a:srgbClr val="C49A22"/>
                </a:solidFill>
                <a:latin typeface="Georgia"/>
              </a:rPr>
              <a:t>[Resolves: Prohibitive API Cost &amp; Scanner Divergence]</a:t>
            </a:r>
          </a:p>
        </p:txBody>
      </p:sp>
      <p:sp>
        <p:nvSpPr>
          <p:cNvPr id="34" name="TextBox 33"/>
          <p:cNvSpPr txBox="1"/>
          <p:nvPr/>
        </p:nvSpPr>
        <p:spPr>
          <a:xfrm>
            <a:off x="1353312" y="4517136"/>
            <a:ext cx="10058400" cy="621792"/>
          </a:xfrm>
          <a:prstGeom prst="rect">
            <a:avLst/>
          </a:prstGeom>
          <a:noFill/>
        </p:spPr>
        <p:txBody>
          <a:bodyPr wrap="square" lIns="0" tIns="0" rIns="0" bIns="0">
            <a:spAutoFit/>
          </a:bodyPr>
          <a:lstStyle/>
          <a:p>
            <a:pPr algn="l"/>
            <a:r>
              <a:rPr sz="1000" b="0" i="0">
                <a:solidFill>
                  <a:srgbClr val="343434"/>
                </a:solidFill>
                <a:latin typeface="Georgia"/>
              </a:rPr>
              <a:t>Deploy a local Calibrated Random Forest model as a zero-cost first-line filter (classifying &gt;90% of files in &lt;2 ms). Escalate only complex, ambiguous configurations to LLM Chain-of-Thought reasoning.</a:t>
            </a:r>
          </a:p>
        </p:txBody>
      </p:sp>
      <p:sp>
        <p:nvSpPr>
          <p:cNvPr id="35" name="Rounded Rectangle 34"/>
          <p:cNvSpPr/>
          <p:nvPr/>
        </p:nvSpPr>
        <p:spPr>
          <a:xfrm>
            <a:off x="548640" y="5312664"/>
            <a:ext cx="11091672" cy="109728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5312664"/>
            <a:ext cx="73152" cy="1097280"/>
          </a:xfrm>
          <a:prstGeom prst="rect">
            <a:avLst/>
          </a:prstGeom>
          <a:solidFill>
            <a:srgbClr val="2E7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94944" y="5422392"/>
            <a:ext cx="530352" cy="402336"/>
          </a:xfrm>
          <a:prstGeom prst="rect">
            <a:avLst/>
          </a:prstGeom>
          <a:solidFill>
            <a:srgbClr val="2E7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944" y="5431536"/>
            <a:ext cx="530352" cy="365760"/>
          </a:xfrm>
          <a:prstGeom prst="rect">
            <a:avLst/>
          </a:prstGeom>
          <a:noFill/>
        </p:spPr>
        <p:txBody>
          <a:bodyPr wrap="square" lIns="0" tIns="0" rIns="0" bIns="0">
            <a:spAutoFit/>
          </a:bodyPr>
          <a:lstStyle/>
          <a:p>
            <a:pPr algn="ctr"/>
            <a:r>
              <a:rPr sz="1600" b="0" i="0">
                <a:solidFill>
                  <a:srgbClr val="FFFFFF"/>
                </a:solidFill>
                <a:latin typeface="Candal"/>
              </a:rPr>
              <a:t>04</a:t>
            </a:r>
          </a:p>
        </p:txBody>
      </p:sp>
      <p:sp>
        <p:nvSpPr>
          <p:cNvPr id="39" name="TextBox 38"/>
          <p:cNvSpPr txBox="1"/>
          <p:nvPr/>
        </p:nvSpPr>
        <p:spPr>
          <a:xfrm>
            <a:off x="1353312" y="5404104"/>
            <a:ext cx="7498079" cy="292608"/>
          </a:xfrm>
          <a:prstGeom prst="rect">
            <a:avLst/>
          </a:prstGeom>
          <a:noFill/>
        </p:spPr>
        <p:txBody>
          <a:bodyPr wrap="square" lIns="0" tIns="0" rIns="0" bIns="0">
            <a:spAutoFit/>
          </a:bodyPr>
          <a:lstStyle/>
          <a:p>
            <a:pPr algn="l"/>
            <a:r>
              <a:rPr sz="1200" b="1" i="0">
                <a:solidFill>
                  <a:srgbClr val="2C3461"/>
                </a:solidFill>
                <a:latin typeface="Georgia"/>
              </a:rPr>
              <a:t>Explainable XAI &amp; Compiler-Validated Remediation</a:t>
            </a:r>
          </a:p>
        </p:txBody>
      </p:sp>
      <p:sp>
        <p:nvSpPr>
          <p:cNvPr id="40" name="TextBox 39"/>
          <p:cNvSpPr txBox="1"/>
          <p:nvPr/>
        </p:nvSpPr>
        <p:spPr>
          <a:xfrm>
            <a:off x="8595360" y="5404104"/>
            <a:ext cx="2926080" cy="274320"/>
          </a:xfrm>
          <a:prstGeom prst="rect">
            <a:avLst/>
          </a:prstGeom>
          <a:noFill/>
        </p:spPr>
        <p:txBody>
          <a:bodyPr wrap="square" lIns="0" tIns="0" rIns="0" bIns="0">
            <a:spAutoFit/>
          </a:bodyPr>
          <a:lstStyle/>
          <a:p>
            <a:pPr algn="r"/>
            <a:r>
              <a:rPr sz="950" b="1" i="0">
                <a:solidFill>
                  <a:srgbClr val="2E7D52"/>
                </a:solidFill>
                <a:latin typeface="Georgia"/>
              </a:rPr>
              <a:t>[Resolves: Lack of Explainability &amp; Broken YAML Fixes]</a:t>
            </a:r>
          </a:p>
        </p:txBody>
      </p:sp>
      <p:sp>
        <p:nvSpPr>
          <p:cNvPr id="41" name="TextBox 40"/>
          <p:cNvSpPr txBox="1"/>
          <p:nvPr/>
        </p:nvSpPr>
        <p:spPr>
          <a:xfrm>
            <a:off x="1353312" y="5724144"/>
            <a:ext cx="10058400" cy="621792"/>
          </a:xfrm>
          <a:prstGeom prst="rect">
            <a:avLst/>
          </a:prstGeom>
          <a:noFill/>
        </p:spPr>
        <p:txBody>
          <a:bodyPr wrap="square" lIns="0" tIns="0" rIns="0" bIns="0">
            <a:spAutoFit/>
          </a:bodyPr>
          <a:lstStyle/>
          <a:p>
            <a:pPr algn="l"/>
            <a:r>
              <a:rPr sz="1000" b="0" i="0">
                <a:solidFill>
                  <a:srgbClr val="343434"/>
                </a:solidFill>
                <a:latin typeface="Georgia"/>
              </a:rPr>
              <a:t>Generate SHAP feature attributions pinpointing exact triggering lines. Draft hardened replacement YAMLs and automatically validate them through compiler/schema checks before developer delivery.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Oval 1"/>
          <p:cNvSpPr/>
          <p:nvPr/>
        </p:nvSpPr>
        <p:spPr>
          <a:xfrm>
            <a:off x="10149840" y="-36576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81360" y="-292608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474720" y="54864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0" y="621792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07040" y="6035040"/>
            <a:ext cx="2194560" cy="219456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65760" y="-1005840"/>
            <a:ext cx="1645920" cy="164592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47688"/>
            <a:ext cx="12191695" cy="210312"/>
          </a:xfrm>
          <a:prstGeom prst="rect">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65976"/>
            <a:ext cx="11064240" cy="182880"/>
          </a:xfrm>
          <a:prstGeom prst="rect">
            <a:avLst/>
          </a:prstGeom>
          <a:noFill/>
        </p:spPr>
        <p:txBody>
          <a:bodyPr wrap="square" lIns="0" tIns="0" rIns="0" bIns="0">
            <a:spAutoFit/>
          </a:bodyPr>
          <a:lstStyle/>
          <a:p>
            <a:pPr algn="l"/>
            <a:r>
              <a:rPr sz="850" b="0" i="0">
                <a:solidFill>
                  <a:srgbClr val="6E748A"/>
                </a:solidFill>
                <a:latin typeface="Georgia"/>
              </a:rPr>
              <a:t>Cloud Misconfiguration Detection Using Machine Learning  |  Group 8  |  Slide 3 of 9</a:t>
            </a:r>
          </a:p>
        </p:txBody>
      </p:sp>
      <p:sp>
        <p:nvSpPr>
          <p:cNvPr id="10" name="TextBox 9"/>
          <p:cNvSpPr txBox="1"/>
          <p:nvPr/>
        </p:nvSpPr>
        <p:spPr>
          <a:xfrm>
            <a:off x="548640" y="256032"/>
            <a:ext cx="10058400" cy="228600"/>
          </a:xfrm>
          <a:prstGeom prst="rect">
            <a:avLst/>
          </a:prstGeom>
          <a:noFill/>
        </p:spPr>
        <p:txBody>
          <a:bodyPr wrap="square" lIns="0" tIns="0" rIns="0" bIns="0">
            <a:spAutoFit/>
          </a:bodyPr>
          <a:lstStyle/>
          <a:p>
            <a:pPr algn="l"/>
            <a:r>
              <a:rPr sz="900" b="1" i="0">
                <a:solidFill>
                  <a:srgbClr val="5C6898"/>
                </a:solidFill>
                <a:latin typeface="Georgia"/>
              </a:rPr>
              <a:t>SECTION II — METHODOLOGY</a:t>
            </a:r>
          </a:p>
        </p:txBody>
      </p:sp>
      <p:sp>
        <p:nvSpPr>
          <p:cNvPr id="11" name="TextBox 10"/>
          <p:cNvSpPr txBox="1"/>
          <p:nvPr/>
        </p:nvSpPr>
        <p:spPr>
          <a:xfrm>
            <a:off x="548640" y="502920"/>
            <a:ext cx="10515600" cy="777240"/>
          </a:xfrm>
          <a:prstGeom prst="rect">
            <a:avLst/>
          </a:prstGeom>
          <a:noFill/>
        </p:spPr>
        <p:txBody>
          <a:bodyPr wrap="square" lIns="0" tIns="0" rIns="0" bIns="0">
            <a:spAutoFit/>
          </a:bodyPr>
          <a:lstStyle/>
          <a:p>
            <a:pPr algn="l"/>
            <a:r>
              <a:rPr sz="2400" b="0" i="0">
                <a:solidFill>
                  <a:srgbClr val="2C3461"/>
                </a:solidFill>
                <a:latin typeface="Candal"/>
              </a:rPr>
              <a:t>4-Stage Hybrid Machine Learning Pipeline Architecture</a:t>
            </a:r>
          </a:p>
        </p:txBody>
      </p:sp>
      <p:sp>
        <p:nvSpPr>
          <p:cNvPr id="12" name="Rectangle 11"/>
          <p:cNvSpPr/>
          <p:nvPr/>
        </p:nvSpPr>
        <p:spPr>
          <a:xfrm>
            <a:off x="548640" y="1261872"/>
            <a:ext cx="1645920" cy="36576"/>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371600"/>
            <a:ext cx="10515600" cy="256032"/>
          </a:xfrm>
          <a:prstGeom prst="rect">
            <a:avLst/>
          </a:prstGeom>
          <a:noFill/>
        </p:spPr>
        <p:txBody>
          <a:bodyPr wrap="square" lIns="0" tIns="0" rIns="0" bIns="0">
            <a:spAutoFit/>
          </a:bodyPr>
          <a:lstStyle/>
          <a:p>
            <a:pPr algn="l"/>
            <a:r>
              <a:rPr sz="1050" b="0" i="1">
                <a:solidFill>
                  <a:srgbClr val="6E748A"/>
                </a:solidFill>
                <a:latin typeface="Georgia"/>
              </a:rPr>
              <a:t>End-to-end workflow transforming raw multi-format configs into verified, explainable remediations.</a:t>
            </a:r>
          </a:p>
        </p:txBody>
      </p:sp>
      <p:sp>
        <p:nvSpPr>
          <p:cNvPr id="14" name="Rounded Rectangle 13"/>
          <p:cNvSpPr/>
          <p:nvPr/>
        </p:nvSpPr>
        <p:spPr>
          <a:xfrm>
            <a:off x="502920" y="1719072"/>
            <a:ext cx="2578608" cy="461772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1719072"/>
            <a:ext cx="2578608" cy="384048"/>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1764792"/>
            <a:ext cx="2395727" cy="292608"/>
          </a:xfrm>
          <a:prstGeom prst="rect">
            <a:avLst/>
          </a:prstGeom>
          <a:noFill/>
        </p:spPr>
        <p:txBody>
          <a:bodyPr wrap="square" lIns="0" tIns="0" rIns="0" bIns="0">
            <a:spAutoFit/>
          </a:bodyPr>
          <a:lstStyle/>
          <a:p>
            <a:pPr algn="l"/>
            <a:r>
              <a:rPr sz="1200" b="0" i="0">
                <a:solidFill>
                  <a:srgbClr val="FFFFFF"/>
                </a:solidFill>
                <a:latin typeface="Candal"/>
              </a:rPr>
              <a:t>Stage 1</a:t>
            </a:r>
          </a:p>
        </p:txBody>
      </p:sp>
      <p:sp>
        <p:nvSpPr>
          <p:cNvPr id="17" name="TextBox 16"/>
          <p:cNvSpPr txBox="1"/>
          <p:nvPr/>
        </p:nvSpPr>
        <p:spPr>
          <a:xfrm>
            <a:off x="640080" y="2176272"/>
            <a:ext cx="2304288" cy="658368"/>
          </a:xfrm>
          <a:prstGeom prst="rect">
            <a:avLst/>
          </a:prstGeom>
          <a:noFill/>
        </p:spPr>
        <p:txBody>
          <a:bodyPr wrap="square" lIns="0" tIns="0" rIns="0" bIns="0">
            <a:spAutoFit/>
          </a:bodyPr>
          <a:lstStyle/>
          <a:p>
            <a:pPr algn="l"/>
            <a:r>
              <a:rPr sz="1400" b="0" i="0">
                <a:solidFill>
                  <a:srgbClr val="2C3461"/>
                </a:solidFill>
                <a:latin typeface="Candal"/>
              </a:rPr>
              <a:t>AST Feature
Extraction</a:t>
            </a:r>
          </a:p>
        </p:txBody>
      </p:sp>
      <p:sp>
        <p:nvSpPr>
          <p:cNvPr id="18" name="TextBox 17"/>
          <p:cNvSpPr txBox="1"/>
          <p:nvPr/>
        </p:nvSpPr>
        <p:spPr>
          <a:xfrm>
            <a:off x="640080" y="2889504"/>
            <a:ext cx="2304288" cy="274320"/>
          </a:xfrm>
          <a:prstGeom prst="rect">
            <a:avLst/>
          </a:prstGeom>
          <a:noFill/>
        </p:spPr>
        <p:txBody>
          <a:bodyPr wrap="square" lIns="0" tIns="0" rIns="0" bIns="0">
            <a:spAutoFit/>
          </a:bodyPr>
          <a:lstStyle/>
          <a:p>
            <a:pPr algn="l"/>
            <a:r>
              <a:rPr sz="950" b="1" i="1">
                <a:solidFill>
                  <a:srgbClr val="5C6898"/>
                </a:solidFill>
                <a:latin typeface="Georgia"/>
              </a:rPr>
              <a:t>[ast_extractor.py]</a:t>
            </a:r>
          </a:p>
        </p:txBody>
      </p:sp>
      <p:sp>
        <p:nvSpPr>
          <p:cNvPr id="19" name="TextBox 18"/>
          <p:cNvSpPr txBox="1"/>
          <p:nvPr/>
        </p:nvSpPr>
        <p:spPr>
          <a:xfrm>
            <a:off x="640080" y="3218688"/>
            <a:ext cx="2304288" cy="2926080"/>
          </a:xfrm>
          <a:prstGeom prst="rect">
            <a:avLst/>
          </a:prstGeom>
          <a:noFill/>
        </p:spPr>
        <p:txBody>
          <a:bodyPr wrap="square" lIns="0" tIns="0" rIns="0" bIns="0">
            <a:spAutoFit/>
          </a:bodyPr>
          <a:lstStyle/>
          <a:p>
            <a:pPr algn="l"/>
            <a:r>
              <a:rPr sz="1000" b="0" i="0">
                <a:solidFill>
                  <a:srgbClr val="343434"/>
                </a:solidFill>
                <a:latin typeface="Georgia"/>
              </a:rPr>
              <a:t>Parses YAML/JSON manifests into Abstract Syntax Trees.
Extracts 64 numerical security indicators (root users, host network, wildcard IAM, encryption flags, nesting depth).</a:t>
            </a:r>
          </a:p>
        </p:txBody>
      </p:sp>
      <p:sp>
        <p:nvSpPr>
          <p:cNvPr id="20" name="TextBox 19"/>
          <p:cNvSpPr txBox="1"/>
          <p:nvPr/>
        </p:nvSpPr>
        <p:spPr>
          <a:xfrm>
            <a:off x="3099816" y="3474720"/>
            <a:ext cx="292608" cy="365760"/>
          </a:xfrm>
          <a:prstGeom prst="rect">
            <a:avLst/>
          </a:prstGeom>
          <a:noFill/>
        </p:spPr>
        <p:txBody>
          <a:bodyPr wrap="square" lIns="0" tIns="0" rIns="0" bIns="0">
            <a:spAutoFit/>
          </a:bodyPr>
          <a:lstStyle/>
          <a:p>
            <a:pPr algn="ctr"/>
            <a:r>
              <a:rPr sz="1800" b="0" i="0">
                <a:solidFill>
                  <a:srgbClr val="5C6898"/>
                </a:solidFill>
                <a:latin typeface="Candal"/>
              </a:rPr>
              <a:t>→</a:t>
            </a:r>
          </a:p>
        </p:txBody>
      </p:sp>
      <p:sp>
        <p:nvSpPr>
          <p:cNvPr id="21" name="Rounded Rectangle 20"/>
          <p:cNvSpPr/>
          <p:nvPr/>
        </p:nvSpPr>
        <p:spPr>
          <a:xfrm>
            <a:off x="3374135" y="1719072"/>
            <a:ext cx="2578608" cy="461772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74135" y="1719072"/>
            <a:ext cx="2578608" cy="384048"/>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65575" y="1764792"/>
            <a:ext cx="2395727" cy="292608"/>
          </a:xfrm>
          <a:prstGeom prst="rect">
            <a:avLst/>
          </a:prstGeom>
          <a:noFill/>
        </p:spPr>
        <p:txBody>
          <a:bodyPr wrap="square" lIns="0" tIns="0" rIns="0" bIns="0">
            <a:spAutoFit/>
          </a:bodyPr>
          <a:lstStyle/>
          <a:p>
            <a:pPr algn="l"/>
            <a:r>
              <a:rPr sz="1200" b="0" i="0">
                <a:solidFill>
                  <a:srgbClr val="FFFFFF"/>
                </a:solidFill>
                <a:latin typeface="Candal"/>
              </a:rPr>
              <a:t>Stage 2</a:t>
            </a:r>
          </a:p>
        </p:txBody>
      </p:sp>
      <p:sp>
        <p:nvSpPr>
          <p:cNvPr id="24" name="TextBox 23"/>
          <p:cNvSpPr txBox="1"/>
          <p:nvPr/>
        </p:nvSpPr>
        <p:spPr>
          <a:xfrm>
            <a:off x="3511295" y="2176272"/>
            <a:ext cx="2304288" cy="658368"/>
          </a:xfrm>
          <a:prstGeom prst="rect">
            <a:avLst/>
          </a:prstGeom>
          <a:noFill/>
        </p:spPr>
        <p:txBody>
          <a:bodyPr wrap="square" lIns="0" tIns="0" rIns="0" bIns="0">
            <a:spAutoFit/>
          </a:bodyPr>
          <a:lstStyle/>
          <a:p>
            <a:pPr algn="l"/>
            <a:r>
              <a:rPr sz="1400" b="0" i="0">
                <a:solidFill>
                  <a:srgbClr val="2C3461"/>
                </a:solidFill>
                <a:latin typeface="Candal"/>
              </a:rPr>
              <a:t>Heterogeneous
Security Graph</a:t>
            </a:r>
          </a:p>
        </p:txBody>
      </p:sp>
      <p:sp>
        <p:nvSpPr>
          <p:cNvPr id="25" name="TextBox 24"/>
          <p:cNvSpPr txBox="1"/>
          <p:nvPr/>
        </p:nvSpPr>
        <p:spPr>
          <a:xfrm>
            <a:off x="3511295" y="2889504"/>
            <a:ext cx="2304288" cy="274320"/>
          </a:xfrm>
          <a:prstGeom prst="rect">
            <a:avLst/>
          </a:prstGeom>
          <a:noFill/>
        </p:spPr>
        <p:txBody>
          <a:bodyPr wrap="square" lIns="0" tIns="0" rIns="0" bIns="0">
            <a:spAutoFit/>
          </a:bodyPr>
          <a:lstStyle/>
          <a:p>
            <a:pPr algn="l"/>
            <a:r>
              <a:rPr sz="950" b="1" i="1">
                <a:solidFill>
                  <a:srgbClr val="5C6898"/>
                </a:solidFill>
                <a:latin typeface="Georgia"/>
              </a:rPr>
              <a:t>[gnn_model.py]</a:t>
            </a:r>
          </a:p>
        </p:txBody>
      </p:sp>
      <p:sp>
        <p:nvSpPr>
          <p:cNvPr id="26" name="TextBox 25"/>
          <p:cNvSpPr txBox="1"/>
          <p:nvPr/>
        </p:nvSpPr>
        <p:spPr>
          <a:xfrm>
            <a:off x="3511295" y="3218688"/>
            <a:ext cx="2304288" cy="2926080"/>
          </a:xfrm>
          <a:prstGeom prst="rect">
            <a:avLst/>
          </a:prstGeom>
          <a:noFill/>
        </p:spPr>
        <p:txBody>
          <a:bodyPr wrap="square" lIns="0" tIns="0" rIns="0" bIns="0">
            <a:spAutoFit/>
          </a:bodyPr>
          <a:lstStyle/>
          <a:p>
            <a:pPr algn="l"/>
            <a:r>
              <a:rPr sz="1000" b="0" i="0">
                <a:solidFill>
                  <a:srgbClr val="343434"/>
                </a:solidFill>
                <a:latin typeface="Georgia"/>
              </a:rPr>
              <a:t>Constructs a multi-resource graph:
Nodes: Pod, IAM_Storage, Lambda
Edges: accesses, assumes, bound-to
PyTorch GNN passes messages across files to detect chained threats.</a:t>
            </a:r>
          </a:p>
        </p:txBody>
      </p:sp>
      <p:sp>
        <p:nvSpPr>
          <p:cNvPr id="27" name="TextBox 26"/>
          <p:cNvSpPr txBox="1"/>
          <p:nvPr/>
        </p:nvSpPr>
        <p:spPr>
          <a:xfrm>
            <a:off x="5971031" y="3474720"/>
            <a:ext cx="292608" cy="365760"/>
          </a:xfrm>
          <a:prstGeom prst="rect">
            <a:avLst/>
          </a:prstGeom>
          <a:noFill/>
        </p:spPr>
        <p:txBody>
          <a:bodyPr wrap="square" lIns="0" tIns="0" rIns="0" bIns="0">
            <a:spAutoFit/>
          </a:bodyPr>
          <a:lstStyle/>
          <a:p>
            <a:pPr algn="ctr"/>
            <a:r>
              <a:rPr sz="1800" b="0" i="0">
                <a:solidFill>
                  <a:srgbClr val="5C6898"/>
                </a:solidFill>
                <a:latin typeface="Candal"/>
              </a:rPr>
              <a:t>→</a:t>
            </a:r>
          </a:p>
        </p:txBody>
      </p:sp>
      <p:sp>
        <p:nvSpPr>
          <p:cNvPr id="28" name="Rounded Rectangle 27"/>
          <p:cNvSpPr/>
          <p:nvPr/>
        </p:nvSpPr>
        <p:spPr>
          <a:xfrm>
            <a:off x="6245351" y="1719072"/>
            <a:ext cx="2578608" cy="461772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45351" y="1719072"/>
            <a:ext cx="2578608" cy="384048"/>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36791" y="1764792"/>
            <a:ext cx="2395727" cy="292608"/>
          </a:xfrm>
          <a:prstGeom prst="rect">
            <a:avLst/>
          </a:prstGeom>
          <a:noFill/>
        </p:spPr>
        <p:txBody>
          <a:bodyPr wrap="square" lIns="0" tIns="0" rIns="0" bIns="0">
            <a:spAutoFit/>
          </a:bodyPr>
          <a:lstStyle/>
          <a:p>
            <a:pPr algn="l"/>
            <a:r>
              <a:rPr sz="1200" b="0" i="0">
                <a:solidFill>
                  <a:srgbClr val="FFFFFF"/>
                </a:solidFill>
                <a:latin typeface="Candal"/>
              </a:rPr>
              <a:t>Stage 3</a:t>
            </a:r>
          </a:p>
        </p:txBody>
      </p:sp>
      <p:sp>
        <p:nvSpPr>
          <p:cNvPr id="31" name="TextBox 30"/>
          <p:cNvSpPr txBox="1"/>
          <p:nvPr/>
        </p:nvSpPr>
        <p:spPr>
          <a:xfrm>
            <a:off x="6382512" y="2176272"/>
            <a:ext cx="2304288" cy="658368"/>
          </a:xfrm>
          <a:prstGeom prst="rect">
            <a:avLst/>
          </a:prstGeom>
          <a:noFill/>
        </p:spPr>
        <p:txBody>
          <a:bodyPr wrap="square" lIns="0" tIns="0" rIns="0" bIns="0">
            <a:spAutoFit/>
          </a:bodyPr>
          <a:lstStyle/>
          <a:p>
            <a:pPr algn="l"/>
            <a:r>
              <a:rPr sz="1400" b="0" i="0">
                <a:solidFill>
                  <a:srgbClr val="2C3461"/>
                </a:solidFill>
                <a:latin typeface="Candal"/>
              </a:rPr>
              <a:t>Tiered ML-LLM
Smart Triage</a:t>
            </a:r>
          </a:p>
        </p:txBody>
      </p:sp>
      <p:sp>
        <p:nvSpPr>
          <p:cNvPr id="32" name="TextBox 31"/>
          <p:cNvSpPr txBox="1"/>
          <p:nvPr/>
        </p:nvSpPr>
        <p:spPr>
          <a:xfrm>
            <a:off x="6382512" y="2889504"/>
            <a:ext cx="2304288" cy="274320"/>
          </a:xfrm>
          <a:prstGeom prst="rect">
            <a:avLst/>
          </a:prstGeom>
          <a:noFill/>
        </p:spPr>
        <p:txBody>
          <a:bodyPr wrap="square" lIns="0" tIns="0" rIns="0" bIns="0">
            <a:spAutoFit/>
          </a:bodyPr>
          <a:lstStyle/>
          <a:p>
            <a:pPr algn="l"/>
            <a:r>
              <a:rPr sz="950" b="1" i="1">
                <a:solidFill>
                  <a:srgbClr val="5C6898"/>
                </a:solidFill>
                <a:latin typeface="Georgia"/>
              </a:rPr>
              <a:t>[rf_classifier.py]</a:t>
            </a:r>
          </a:p>
        </p:txBody>
      </p:sp>
      <p:sp>
        <p:nvSpPr>
          <p:cNvPr id="33" name="TextBox 32"/>
          <p:cNvSpPr txBox="1"/>
          <p:nvPr/>
        </p:nvSpPr>
        <p:spPr>
          <a:xfrm>
            <a:off x="6382512" y="3218688"/>
            <a:ext cx="2304288" cy="2926080"/>
          </a:xfrm>
          <a:prstGeom prst="rect">
            <a:avLst/>
          </a:prstGeom>
          <a:noFill/>
        </p:spPr>
        <p:txBody>
          <a:bodyPr wrap="square" lIns="0" tIns="0" rIns="0" bIns="0">
            <a:spAutoFit/>
          </a:bodyPr>
          <a:lstStyle/>
          <a:p>
            <a:pPr algn="l"/>
            <a:r>
              <a:rPr sz="1000" b="0" i="0">
                <a:solidFill>
                  <a:srgbClr val="343434"/>
                </a:solidFill>
                <a:latin typeface="Georgia"/>
              </a:rPr>
              <a:t>Fast Local RF screens 90%+ of files at $0 API cost in 2 ms.
Ambiguous files (&lt;90% conf) escalate to Stage 3B LLM (Gemini / GPT-4o) using Chain-of-Thought prompts.</a:t>
            </a:r>
          </a:p>
        </p:txBody>
      </p:sp>
      <p:sp>
        <p:nvSpPr>
          <p:cNvPr id="34" name="TextBox 33"/>
          <p:cNvSpPr txBox="1"/>
          <p:nvPr/>
        </p:nvSpPr>
        <p:spPr>
          <a:xfrm>
            <a:off x="8842247" y="3474720"/>
            <a:ext cx="292608" cy="365760"/>
          </a:xfrm>
          <a:prstGeom prst="rect">
            <a:avLst/>
          </a:prstGeom>
          <a:noFill/>
        </p:spPr>
        <p:txBody>
          <a:bodyPr wrap="square" lIns="0" tIns="0" rIns="0" bIns="0">
            <a:spAutoFit/>
          </a:bodyPr>
          <a:lstStyle/>
          <a:p>
            <a:pPr algn="ctr"/>
            <a:r>
              <a:rPr sz="1800" b="0" i="0">
                <a:solidFill>
                  <a:srgbClr val="5C6898"/>
                </a:solidFill>
                <a:latin typeface="Candal"/>
              </a:rPr>
              <a:t>→</a:t>
            </a:r>
          </a:p>
        </p:txBody>
      </p:sp>
      <p:sp>
        <p:nvSpPr>
          <p:cNvPr id="35" name="Rounded Rectangle 34"/>
          <p:cNvSpPr/>
          <p:nvPr/>
        </p:nvSpPr>
        <p:spPr>
          <a:xfrm>
            <a:off x="9116567" y="1719072"/>
            <a:ext cx="2578608" cy="461772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116567" y="1719072"/>
            <a:ext cx="2578608" cy="384048"/>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08007" y="1764792"/>
            <a:ext cx="2395727" cy="292608"/>
          </a:xfrm>
          <a:prstGeom prst="rect">
            <a:avLst/>
          </a:prstGeom>
          <a:noFill/>
        </p:spPr>
        <p:txBody>
          <a:bodyPr wrap="square" lIns="0" tIns="0" rIns="0" bIns="0">
            <a:spAutoFit/>
          </a:bodyPr>
          <a:lstStyle/>
          <a:p>
            <a:pPr algn="l"/>
            <a:r>
              <a:rPr sz="1200" b="0" i="0">
                <a:solidFill>
                  <a:srgbClr val="FFFFFF"/>
                </a:solidFill>
                <a:latin typeface="Candal"/>
              </a:rPr>
              <a:t>Stage 4</a:t>
            </a:r>
          </a:p>
        </p:txBody>
      </p:sp>
      <p:sp>
        <p:nvSpPr>
          <p:cNvPr id="38" name="TextBox 37"/>
          <p:cNvSpPr txBox="1"/>
          <p:nvPr/>
        </p:nvSpPr>
        <p:spPr>
          <a:xfrm>
            <a:off x="9253728" y="2176272"/>
            <a:ext cx="2304288" cy="658368"/>
          </a:xfrm>
          <a:prstGeom prst="rect">
            <a:avLst/>
          </a:prstGeom>
          <a:noFill/>
        </p:spPr>
        <p:txBody>
          <a:bodyPr wrap="square" lIns="0" tIns="0" rIns="0" bIns="0">
            <a:spAutoFit/>
          </a:bodyPr>
          <a:lstStyle/>
          <a:p>
            <a:pPr algn="l"/>
            <a:r>
              <a:rPr sz="1400" b="0" i="0">
                <a:solidFill>
                  <a:srgbClr val="2C3461"/>
                </a:solidFill>
                <a:latin typeface="Candal"/>
              </a:rPr>
              <a:t>SHAP XAI &amp;
Compiler Loop</a:t>
            </a:r>
          </a:p>
        </p:txBody>
      </p:sp>
      <p:sp>
        <p:nvSpPr>
          <p:cNvPr id="39" name="TextBox 38"/>
          <p:cNvSpPr txBox="1"/>
          <p:nvPr/>
        </p:nvSpPr>
        <p:spPr>
          <a:xfrm>
            <a:off x="9253728" y="2889504"/>
            <a:ext cx="2304288" cy="274320"/>
          </a:xfrm>
          <a:prstGeom prst="rect">
            <a:avLst/>
          </a:prstGeom>
          <a:noFill/>
        </p:spPr>
        <p:txBody>
          <a:bodyPr wrap="square" lIns="0" tIns="0" rIns="0" bIns="0">
            <a:spAutoFit/>
          </a:bodyPr>
          <a:lstStyle/>
          <a:p>
            <a:pPr algn="l"/>
            <a:r>
              <a:rPr sz="950" b="1" i="1">
                <a:solidFill>
                  <a:srgbClr val="5C6898"/>
                </a:solidFill>
                <a:latin typeface="Georgia"/>
              </a:rPr>
              <a:t>[compiler_loop.py]</a:t>
            </a:r>
          </a:p>
        </p:txBody>
      </p:sp>
      <p:sp>
        <p:nvSpPr>
          <p:cNvPr id="40" name="TextBox 39"/>
          <p:cNvSpPr txBox="1"/>
          <p:nvPr/>
        </p:nvSpPr>
        <p:spPr>
          <a:xfrm>
            <a:off x="9253728" y="3218688"/>
            <a:ext cx="2304288" cy="2926080"/>
          </a:xfrm>
          <a:prstGeom prst="rect">
            <a:avLst/>
          </a:prstGeom>
          <a:noFill/>
        </p:spPr>
        <p:txBody>
          <a:bodyPr wrap="square" lIns="0" tIns="0" rIns="0" bIns="0">
            <a:spAutoFit/>
          </a:bodyPr>
          <a:lstStyle/>
          <a:p>
            <a:pPr algn="l"/>
            <a:r>
              <a:rPr sz="1000" b="0" i="0">
                <a:solidFill>
                  <a:srgbClr val="343434"/>
                </a:solidFill>
                <a:latin typeface="Georgia"/>
              </a:rPr>
              <a:t>SHAP explains exact risk contributors.
LLM/Rule engine drafts hardened patch.
Compiler validation loop tests syntax &amp; schema to guarantee 100% valid YAML.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Oval 1"/>
          <p:cNvSpPr/>
          <p:nvPr/>
        </p:nvSpPr>
        <p:spPr>
          <a:xfrm>
            <a:off x="10149840" y="-36576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81360" y="-292608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474720" y="54864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0" y="621792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07040" y="6035040"/>
            <a:ext cx="2194560" cy="219456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65760" y="-1005840"/>
            <a:ext cx="1645920" cy="164592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47688"/>
            <a:ext cx="12191695" cy="210312"/>
          </a:xfrm>
          <a:prstGeom prst="rect">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65976"/>
            <a:ext cx="11064240" cy="182880"/>
          </a:xfrm>
          <a:prstGeom prst="rect">
            <a:avLst/>
          </a:prstGeom>
          <a:noFill/>
        </p:spPr>
        <p:txBody>
          <a:bodyPr wrap="square" lIns="0" tIns="0" rIns="0" bIns="0">
            <a:spAutoFit/>
          </a:bodyPr>
          <a:lstStyle/>
          <a:p>
            <a:pPr algn="l"/>
            <a:r>
              <a:rPr sz="850" b="0" i="0">
                <a:solidFill>
                  <a:srgbClr val="6E748A"/>
                </a:solidFill>
                <a:latin typeface="Georgia"/>
              </a:rPr>
              <a:t>Cloud Misconfiguration Detection Using Machine Learning  |  Group 8  |  Slide 4 of 9</a:t>
            </a:r>
          </a:p>
        </p:txBody>
      </p:sp>
      <p:sp>
        <p:nvSpPr>
          <p:cNvPr id="10" name="TextBox 9"/>
          <p:cNvSpPr txBox="1"/>
          <p:nvPr/>
        </p:nvSpPr>
        <p:spPr>
          <a:xfrm>
            <a:off x="548640" y="256032"/>
            <a:ext cx="10058400" cy="228600"/>
          </a:xfrm>
          <a:prstGeom prst="rect">
            <a:avLst/>
          </a:prstGeom>
          <a:noFill/>
        </p:spPr>
        <p:txBody>
          <a:bodyPr wrap="square" lIns="0" tIns="0" rIns="0" bIns="0">
            <a:spAutoFit/>
          </a:bodyPr>
          <a:lstStyle/>
          <a:p>
            <a:pPr algn="l"/>
            <a:r>
              <a:rPr sz="900" b="1" i="0">
                <a:solidFill>
                  <a:srgbClr val="5C6898"/>
                </a:solidFill>
                <a:latin typeface="Georgia"/>
              </a:rPr>
              <a:t>SECTION II — METHODOLOGY HIGHLIGHT</a:t>
            </a:r>
          </a:p>
        </p:txBody>
      </p:sp>
      <p:sp>
        <p:nvSpPr>
          <p:cNvPr id="11" name="TextBox 10"/>
          <p:cNvSpPr txBox="1"/>
          <p:nvPr/>
        </p:nvSpPr>
        <p:spPr>
          <a:xfrm>
            <a:off x="548640" y="502920"/>
            <a:ext cx="10515600" cy="777240"/>
          </a:xfrm>
          <a:prstGeom prst="rect">
            <a:avLst/>
          </a:prstGeom>
          <a:noFill/>
        </p:spPr>
        <p:txBody>
          <a:bodyPr wrap="square" lIns="0" tIns="0" rIns="0" bIns="0">
            <a:spAutoFit/>
          </a:bodyPr>
          <a:lstStyle/>
          <a:p>
            <a:pPr algn="l"/>
            <a:r>
              <a:rPr sz="2400" b="0" i="0">
                <a:solidFill>
                  <a:srgbClr val="2C3461"/>
                </a:solidFill>
                <a:latin typeface="Candal"/>
              </a:rPr>
              <a:t>Cross-Resource Attack Graph: Why Single-File Scanners Fail</a:t>
            </a:r>
          </a:p>
        </p:txBody>
      </p:sp>
      <p:sp>
        <p:nvSpPr>
          <p:cNvPr id="12" name="Rectangle 11"/>
          <p:cNvSpPr/>
          <p:nvPr/>
        </p:nvSpPr>
        <p:spPr>
          <a:xfrm>
            <a:off x="548640" y="1261872"/>
            <a:ext cx="1645920" cy="36576"/>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371600"/>
            <a:ext cx="10515600" cy="256032"/>
          </a:xfrm>
          <a:prstGeom prst="rect">
            <a:avLst/>
          </a:prstGeom>
          <a:noFill/>
        </p:spPr>
        <p:txBody>
          <a:bodyPr wrap="square" lIns="0" tIns="0" rIns="0" bIns="0">
            <a:spAutoFit/>
          </a:bodyPr>
          <a:lstStyle/>
          <a:p>
            <a:pPr algn="l"/>
            <a:r>
              <a:rPr sz="1050" b="0" i="1">
                <a:solidFill>
                  <a:srgbClr val="6E748A"/>
                </a:solidFill>
                <a:latin typeface="Georgia"/>
              </a:rPr>
              <a:t>Demonstrating how Stage 2 GNN message passing uncovers lateral privilege escalations.</a:t>
            </a:r>
          </a:p>
        </p:txBody>
      </p:sp>
      <p:sp>
        <p:nvSpPr>
          <p:cNvPr id="14" name="Rounded Rectangle 13"/>
          <p:cNvSpPr/>
          <p:nvPr/>
        </p:nvSpPr>
        <p:spPr>
          <a:xfrm>
            <a:off x="594360" y="1719072"/>
            <a:ext cx="2377440" cy="1371600"/>
          </a:xfrm>
          <a:prstGeom prst="roundRect">
            <a:avLst/>
          </a:prstGeom>
          <a:solidFill>
            <a:srgbClr val="EEEBE0"/>
          </a:solidFill>
          <a:ln w="19050">
            <a:solidFill>
              <a:srgbClr val="A0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1719072"/>
            <a:ext cx="2377440" cy="310896"/>
          </a:xfrm>
          <a:prstGeom prst="rect">
            <a:avLst/>
          </a:prstGeom>
          <a:solidFill>
            <a:srgbClr val="A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755648"/>
            <a:ext cx="2194560" cy="256032"/>
          </a:xfrm>
          <a:prstGeom prst="rect">
            <a:avLst/>
          </a:prstGeom>
          <a:noFill/>
        </p:spPr>
        <p:txBody>
          <a:bodyPr wrap="square" lIns="0" tIns="0" rIns="0" bIns="0">
            <a:spAutoFit/>
          </a:bodyPr>
          <a:lstStyle/>
          <a:p>
            <a:pPr algn="l"/>
            <a:r>
              <a:rPr sz="1000" b="1" i="0">
                <a:solidFill>
                  <a:srgbClr val="FFFFFF"/>
                </a:solidFill>
                <a:latin typeface="Georgia"/>
              </a:rPr>
              <a:t>1. Kubernetes Pod</a:t>
            </a:r>
          </a:p>
        </p:txBody>
      </p:sp>
      <p:sp>
        <p:nvSpPr>
          <p:cNvPr id="17" name="TextBox 16"/>
          <p:cNvSpPr txBox="1"/>
          <p:nvPr/>
        </p:nvSpPr>
        <p:spPr>
          <a:xfrm>
            <a:off x="685800" y="2066543"/>
            <a:ext cx="2194560" cy="777240"/>
          </a:xfrm>
          <a:prstGeom prst="rect">
            <a:avLst/>
          </a:prstGeom>
          <a:noFill/>
        </p:spPr>
        <p:txBody>
          <a:bodyPr wrap="square" lIns="0" tIns="0" rIns="0" bIns="0">
            <a:spAutoFit/>
          </a:bodyPr>
          <a:lstStyle/>
          <a:p>
            <a:pPr algn="l"/>
            <a:r>
              <a:rPr sz="950" b="0" i="0">
                <a:solidFill>
                  <a:srgbClr val="343434"/>
                </a:solidFill>
                <a:latin typeface="Georgia"/>
              </a:rPr>
              <a:t>runAsRoot: true
hostNetwork: true</a:t>
            </a:r>
          </a:p>
        </p:txBody>
      </p:sp>
      <p:sp>
        <p:nvSpPr>
          <p:cNvPr id="18" name="TextBox 17"/>
          <p:cNvSpPr txBox="1"/>
          <p:nvPr/>
        </p:nvSpPr>
        <p:spPr>
          <a:xfrm>
            <a:off x="594360" y="3127248"/>
            <a:ext cx="2377440" cy="274320"/>
          </a:xfrm>
          <a:prstGeom prst="rect">
            <a:avLst/>
          </a:prstGeom>
          <a:noFill/>
        </p:spPr>
        <p:txBody>
          <a:bodyPr wrap="square" lIns="0" tIns="0" rIns="0" bIns="0">
            <a:spAutoFit/>
          </a:bodyPr>
          <a:lstStyle/>
          <a:p>
            <a:pPr algn="ctr"/>
            <a:r>
              <a:rPr sz="850" b="0" i="1">
                <a:solidFill>
                  <a:srgbClr val="6E748A"/>
                </a:solidFill>
                <a:latin typeface="Georgia"/>
              </a:rPr>
              <a:t>File 1: deployment.yaml</a:t>
            </a:r>
          </a:p>
        </p:txBody>
      </p:sp>
      <p:sp>
        <p:nvSpPr>
          <p:cNvPr id="19" name="TextBox 18"/>
          <p:cNvSpPr txBox="1"/>
          <p:nvPr/>
        </p:nvSpPr>
        <p:spPr>
          <a:xfrm>
            <a:off x="3063240" y="2240280"/>
            <a:ext cx="320040" cy="365760"/>
          </a:xfrm>
          <a:prstGeom prst="rect">
            <a:avLst/>
          </a:prstGeom>
          <a:noFill/>
        </p:spPr>
        <p:txBody>
          <a:bodyPr wrap="square" lIns="0" tIns="0" rIns="0" bIns="0">
            <a:spAutoFit/>
          </a:bodyPr>
          <a:lstStyle/>
          <a:p>
            <a:pPr algn="ctr"/>
            <a:r>
              <a:rPr sz="2000" b="0" i="0">
                <a:solidFill>
                  <a:srgbClr val="5C6898"/>
                </a:solidFill>
                <a:latin typeface="Candal"/>
              </a:rPr>
              <a:t>→</a:t>
            </a:r>
          </a:p>
        </p:txBody>
      </p:sp>
      <p:sp>
        <p:nvSpPr>
          <p:cNvPr id="20" name="Rounded Rectangle 19"/>
          <p:cNvSpPr/>
          <p:nvPr/>
        </p:nvSpPr>
        <p:spPr>
          <a:xfrm>
            <a:off x="3355848" y="1719072"/>
            <a:ext cx="2377440" cy="1371600"/>
          </a:xfrm>
          <a:prstGeom prst="roundRect">
            <a:avLst/>
          </a:prstGeom>
          <a:solidFill>
            <a:srgbClr val="EEEBE0"/>
          </a:solidFill>
          <a:ln w="19050">
            <a:solidFill>
              <a:srgbClr val="5C689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55848" y="1719072"/>
            <a:ext cx="2377440" cy="310896"/>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47288" y="1755648"/>
            <a:ext cx="2194560" cy="256032"/>
          </a:xfrm>
          <a:prstGeom prst="rect">
            <a:avLst/>
          </a:prstGeom>
          <a:noFill/>
        </p:spPr>
        <p:txBody>
          <a:bodyPr wrap="square" lIns="0" tIns="0" rIns="0" bIns="0">
            <a:spAutoFit/>
          </a:bodyPr>
          <a:lstStyle/>
          <a:p>
            <a:pPr algn="l"/>
            <a:r>
              <a:rPr sz="1000" b="1" i="0">
                <a:solidFill>
                  <a:srgbClr val="FFFFFF"/>
                </a:solidFill>
                <a:latin typeface="Georgia"/>
              </a:rPr>
              <a:t>2. ServiceAccount</a:t>
            </a:r>
          </a:p>
        </p:txBody>
      </p:sp>
      <p:sp>
        <p:nvSpPr>
          <p:cNvPr id="23" name="TextBox 22"/>
          <p:cNvSpPr txBox="1"/>
          <p:nvPr/>
        </p:nvSpPr>
        <p:spPr>
          <a:xfrm>
            <a:off x="3447288" y="2066543"/>
            <a:ext cx="2194560" cy="777240"/>
          </a:xfrm>
          <a:prstGeom prst="rect">
            <a:avLst/>
          </a:prstGeom>
          <a:noFill/>
        </p:spPr>
        <p:txBody>
          <a:bodyPr wrap="square" lIns="0" tIns="0" rIns="0" bIns="0">
            <a:spAutoFit/>
          </a:bodyPr>
          <a:lstStyle/>
          <a:p>
            <a:pPr algn="l"/>
            <a:r>
              <a:rPr sz="950" b="0" i="0">
                <a:solidFill>
                  <a:srgbClr val="343434"/>
                </a:solidFill>
                <a:latin typeface="Georgia"/>
              </a:rPr>
              <a:t>namespace: default
automountToken: true</a:t>
            </a:r>
          </a:p>
        </p:txBody>
      </p:sp>
      <p:sp>
        <p:nvSpPr>
          <p:cNvPr id="24" name="TextBox 23"/>
          <p:cNvSpPr txBox="1"/>
          <p:nvPr/>
        </p:nvSpPr>
        <p:spPr>
          <a:xfrm>
            <a:off x="3355848" y="3127248"/>
            <a:ext cx="2377440" cy="274320"/>
          </a:xfrm>
          <a:prstGeom prst="rect">
            <a:avLst/>
          </a:prstGeom>
          <a:noFill/>
        </p:spPr>
        <p:txBody>
          <a:bodyPr wrap="square" lIns="0" tIns="0" rIns="0" bIns="0">
            <a:spAutoFit/>
          </a:bodyPr>
          <a:lstStyle/>
          <a:p>
            <a:pPr algn="ctr"/>
            <a:r>
              <a:rPr sz="850" b="0" i="1">
                <a:solidFill>
                  <a:srgbClr val="6E748A"/>
                </a:solidFill>
                <a:latin typeface="Georgia"/>
              </a:rPr>
              <a:t>File 1: deployment.yaml</a:t>
            </a:r>
          </a:p>
        </p:txBody>
      </p:sp>
      <p:sp>
        <p:nvSpPr>
          <p:cNvPr id="25" name="TextBox 24"/>
          <p:cNvSpPr txBox="1"/>
          <p:nvPr/>
        </p:nvSpPr>
        <p:spPr>
          <a:xfrm>
            <a:off x="5824727" y="2240280"/>
            <a:ext cx="320040" cy="365760"/>
          </a:xfrm>
          <a:prstGeom prst="rect">
            <a:avLst/>
          </a:prstGeom>
          <a:noFill/>
        </p:spPr>
        <p:txBody>
          <a:bodyPr wrap="square" lIns="0" tIns="0" rIns="0" bIns="0">
            <a:spAutoFit/>
          </a:bodyPr>
          <a:lstStyle/>
          <a:p>
            <a:pPr algn="ctr"/>
            <a:r>
              <a:rPr sz="2000" b="0" i="0">
                <a:solidFill>
                  <a:srgbClr val="5C6898"/>
                </a:solidFill>
                <a:latin typeface="Candal"/>
              </a:rPr>
              <a:t>→</a:t>
            </a:r>
          </a:p>
        </p:txBody>
      </p:sp>
      <p:sp>
        <p:nvSpPr>
          <p:cNvPr id="26" name="Rounded Rectangle 25"/>
          <p:cNvSpPr/>
          <p:nvPr/>
        </p:nvSpPr>
        <p:spPr>
          <a:xfrm>
            <a:off x="6117336" y="1719072"/>
            <a:ext cx="2377440" cy="1371600"/>
          </a:xfrm>
          <a:prstGeom prst="roundRect">
            <a:avLst/>
          </a:prstGeom>
          <a:solidFill>
            <a:srgbClr val="EEEBE0"/>
          </a:solidFill>
          <a:ln w="19050">
            <a:solidFill>
              <a:srgbClr val="C49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17336" y="1719072"/>
            <a:ext cx="2377440" cy="310896"/>
          </a:xfrm>
          <a:prstGeom prst="rect">
            <a:avLst/>
          </a:prstGeom>
          <a:solidFill>
            <a:srgbClr val="C49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08776" y="1755648"/>
            <a:ext cx="2194560" cy="256032"/>
          </a:xfrm>
          <a:prstGeom prst="rect">
            <a:avLst/>
          </a:prstGeom>
          <a:noFill/>
        </p:spPr>
        <p:txBody>
          <a:bodyPr wrap="square" lIns="0" tIns="0" rIns="0" bIns="0">
            <a:spAutoFit/>
          </a:bodyPr>
          <a:lstStyle/>
          <a:p>
            <a:pPr algn="l"/>
            <a:r>
              <a:rPr sz="1000" b="1" i="0">
                <a:solidFill>
                  <a:srgbClr val="FFFFFF"/>
                </a:solidFill>
                <a:latin typeface="Georgia"/>
              </a:rPr>
              <a:t>3. ClusterRole Binding</a:t>
            </a:r>
          </a:p>
        </p:txBody>
      </p:sp>
      <p:sp>
        <p:nvSpPr>
          <p:cNvPr id="29" name="TextBox 28"/>
          <p:cNvSpPr txBox="1"/>
          <p:nvPr/>
        </p:nvSpPr>
        <p:spPr>
          <a:xfrm>
            <a:off x="6208776" y="2066543"/>
            <a:ext cx="2194560" cy="777240"/>
          </a:xfrm>
          <a:prstGeom prst="rect">
            <a:avLst/>
          </a:prstGeom>
          <a:noFill/>
        </p:spPr>
        <p:txBody>
          <a:bodyPr wrap="square" lIns="0" tIns="0" rIns="0" bIns="0">
            <a:spAutoFit/>
          </a:bodyPr>
          <a:lstStyle/>
          <a:p>
            <a:pPr algn="l"/>
            <a:r>
              <a:rPr sz="950" b="0" i="0">
                <a:solidFill>
                  <a:srgbClr val="343434"/>
                </a:solidFill>
                <a:latin typeface="Georgia"/>
              </a:rPr>
              <a:t>roleRef: cluster-admin
verbs: [*]</a:t>
            </a:r>
          </a:p>
        </p:txBody>
      </p:sp>
      <p:sp>
        <p:nvSpPr>
          <p:cNvPr id="30" name="TextBox 29"/>
          <p:cNvSpPr txBox="1"/>
          <p:nvPr/>
        </p:nvSpPr>
        <p:spPr>
          <a:xfrm>
            <a:off x="6117336" y="3127248"/>
            <a:ext cx="2377440" cy="274320"/>
          </a:xfrm>
          <a:prstGeom prst="rect">
            <a:avLst/>
          </a:prstGeom>
          <a:noFill/>
        </p:spPr>
        <p:txBody>
          <a:bodyPr wrap="square" lIns="0" tIns="0" rIns="0" bIns="0">
            <a:spAutoFit/>
          </a:bodyPr>
          <a:lstStyle/>
          <a:p>
            <a:pPr algn="ctr"/>
            <a:r>
              <a:rPr sz="850" b="0" i="1">
                <a:solidFill>
                  <a:srgbClr val="6E748A"/>
                </a:solidFill>
                <a:latin typeface="Georgia"/>
              </a:rPr>
              <a:t>File 2: rbac.yaml</a:t>
            </a:r>
          </a:p>
        </p:txBody>
      </p:sp>
      <p:sp>
        <p:nvSpPr>
          <p:cNvPr id="31" name="TextBox 30"/>
          <p:cNvSpPr txBox="1"/>
          <p:nvPr/>
        </p:nvSpPr>
        <p:spPr>
          <a:xfrm>
            <a:off x="8586216" y="2240280"/>
            <a:ext cx="320040" cy="365760"/>
          </a:xfrm>
          <a:prstGeom prst="rect">
            <a:avLst/>
          </a:prstGeom>
          <a:noFill/>
        </p:spPr>
        <p:txBody>
          <a:bodyPr wrap="square" lIns="0" tIns="0" rIns="0" bIns="0">
            <a:spAutoFit/>
          </a:bodyPr>
          <a:lstStyle/>
          <a:p>
            <a:pPr algn="ctr"/>
            <a:r>
              <a:rPr sz="2000" b="0" i="0">
                <a:solidFill>
                  <a:srgbClr val="5C6898"/>
                </a:solidFill>
                <a:latin typeface="Candal"/>
              </a:rPr>
              <a:t>→</a:t>
            </a:r>
          </a:p>
        </p:txBody>
      </p:sp>
      <p:sp>
        <p:nvSpPr>
          <p:cNvPr id="32" name="Rounded Rectangle 31"/>
          <p:cNvSpPr/>
          <p:nvPr/>
        </p:nvSpPr>
        <p:spPr>
          <a:xfrm>
            <a:off x="8878824" y="1719072"/>
            <a:ext cx="2377440" cy="1371600"/>
          </a:xfrm>
          <a:prstGeom prst="roundRect">
            <a:avLst/>
          </a:prstGeom>
          <a:solidFill>
            <a:srgbClr val="EEEBE0"/>
          </a:solidFill>
          <a:ln w="19050">
            <a:solidFill>
              <a:srgbClr val="A0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878824" y="1719072"/>
            <a:ext cx="2377440" cy="310896"/>
          </a:xfrm>
          <a:prstGeom prst="rect">
            <a:avLst/>
          </a:prstGeom>
          <a:solidFill>
            <a:srgbClr val="A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70264" y="1755648"/>
            <a:ext cx="2194560" cy="256032"/>
          </a:xfrm>
          <a:prstGeom prst="rect">
            <a:avLst/>
          </a:prstGeom>
          <a:noFill/>
        </p:spPr>
        <p:txBody>
          <a:bodyPr wrap="square" lIns="0" tIns="0" rIns="0" bIns="0">
            <a:spAutoFit/>
          </a:bodyPr>
          <a:lstStyle/>
          <a:p>
            <a:pPr algn="l"/>
            <a:r>
              <a:rPr sz="1000" b="1" i="0">
                <a:solidFill>
                  <a:srgbClr val="FFFFFF"/>
                </a:solidFill>
                <a:latin typeface="Georgia"/>
              </a:rPr>
              <a:t>4. S3 Storage Bucket</a:t>
            </a:r>
          </a:p>
        </p:txBody>
      </p:sp>
      <p:sp>
        <p:nvSpPr>
          <p:cNvPr id="35" name="TextBox 34"/>
          <p:cNvSpPr txBox="1"/>
          <p:nvPr/>
        </p:nvSpPr>
        <p:spPr>
          <a:xfrm>
            <a:off x="8970264" y="2066543"/>
            <a:ext cx="2194560" cy="777240"/>
          </a:xfrm>
          <a:prstGeom prst="rect">
            <a:avLst/>
          </a:prstGeom>
          <a:noFill/>
        </p:spPr>
        <p:txBody>
          <a:bodyPr wrap="square" lIns="0" tIns="0" rIns="0" bIns="0">
            <a:spAutoFit/>
          </a:bodyPr>
          <a:lstStyle/>
          <a:p>
            <a:pPr algn="l"/>
            <a:r>
              <a:rPr sz="950" b="0" i="0">
                <a:solidFill>
                  <a:srgbClr val="343434"/>
                </a:solidFill>
                <a:latin typeface="Georgia"/>
              </a:rPr>
              <a:t>ACL: public-read
Encryption: None</a:t>
            </a:r>
          </a:p>
        </p:txBody>
      </p:sp>
      <p:sp>
        <p:nvSpPr>
          <p:cNvPr id="36" name="TextBox 35"/>
          <p:cNvSpPr txBox="1"/>
          <p:nvPr/>
        </p:nvSpPr>
        <p:spPr>
          <a:xfrm>
            <a:off x="8878824" y="3127248"/>
            <a:ext cx="2377440" cy="274320"/>
          </a:xfrm>
          <a:prstGeom prst="rect">
            <a:avLst/>
          </a:prstGeom>
          <a:noFill/>
        </p:spPr>
        <p:txBody>
          <a:bodyPr wrap="square" lIns="0" tIns="0" rIns="0" bIns="0">
            <a:spAutoFit/>
          </a:bodyPr>
          <a:lstStyle/>
          <a:p>
            <a:pPr algn="ctr"/>
            <a:r>
              <a:rPr sz="850" b="0" i="1">
                <a:solidFill>
                  <a:srgbClr val="6E748A"/>
                </a:solidFill>
                <a:latin typeface="Georgia"/>
              </a:rPr>
              <a:t>File 3: cloudformation.json</a:t>
            </a:r>
          </a:p>
        </p:txBody>
      </p:sp>
      <p:sp>
        <p:nvSpPr>
          <p:cNvPr id="37" name="Rectangle 36"/>
          <p:cNvSpPr/>
          <p:nvPr/>
        </p:nvSpPr>
        <p:spPr>
          <a:xfrm>
            <a:off x="548640" y="3611880"/>
            <a:ext cx="11091672" cy="36576"/>
          </a:xfrm>
          <a:prstGeom prst="rect">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48640" y="3749039"/>
            <a:ext cx="5394960" cy="2651760"/>
          </a:xfrm>
          <a:prstGeom prst="roundRect">
            <a:avLst/>
          </a:prstGeom>
          <a:solidFill>
            <a:srgbClr val="ECE9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3749039"/>
            <a:ext cx="5394960" cy="329184"/>
          </a:xfrm>
          <a:prstGeom prst="rect">
            <a:avLst/>
          </a:prstGeom>
          <a:solidFill>
            <a:srgbClr val="A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3785615"/>
            <a:ext cx="5120640" cy="256032"/>
          </a:xfrm>
          <a:prstGeom prst="rect">
            <a:avLst/>
          </a:prstGeom>
          <a:noFill/>
        </p:spPr>
        <p:txBody>
          <a:bodyPr wrap="square" lIns="0" tIns="0" rIns="0" bIns="0">
            <a:spAutoFit/>
          </a:bodyPr>
          <a:lstStyle/>
          <a:p>
            <a:pPr algn="l"/>
            <a:r>
              <a:rPr sz="1100" b="1" i="0">
                <a:solidFill>
                  <a:srgbClr val="FFFFFF"/>
                </a:solidFill>
                <a:latin typeface="Georgia"/>
              </a:rPr>
              <a:t>Traditional Static Scanners (Checkov, KubeLinter)</a:t>
            </a:r>
          </a:p>
        </p:txBody>
      </p:sp>
      <p:sp>
        <p:nvSpPr>
          <p:cNvPr id="41" name="TextBox 40"/>
          <p:cNvSpPr txBox="1"/>
          <p:nvPr/>
        </p:nvSpPr>
        <p:spPr>
          <a:xfrm>
            <a:off x="685800" y="4169663"/>
            <a:ext cx="5120640" cy="2103120"/>
          </a:xfrm>
          <a:prstGeom prst="rect">
            <a:avLst/>
          </a:prstGeom>
          <a:noFill/>
        </p:spPr>
        <p:txBody>
          <a:bodyPr wrap="square" lIns="0" tIns="0" rIns="0" bIns="0">
            <a:spAutoFit/>
          </a:bodyPr>
          <a:lstStyle/>
          <a:p>
            <a:pPr>
              <a:spcAft>
                <a:spcPts val="400"/>
              </a:spcAft>
            </a:pPr>
            <a:r>
              <a:rPr sz="1000" b="0" i="0">
                <a:solidFill>
                  <a:srgbClr val="343434"/>
                </a:solidFill>
                <a:latin typeface="Georgia"/>
              </a:rPr>
              <a:t>• Scan one file at a time in total isolation.</a:t>
            </a:r>
          </a:p>
          <a:p>
            <a:pPr>
              <a:spcAft>
                <a:spcPts val="400"/>
              </a:spcAft>
            </a:pPr>
            <a:r>
              <a:rPr sz="1000" b="0" i="0">
                <a:solidFill>
                  <a:srgbClr val="343434"/>
                </a:solidFill>
                <a:latin typeface="Georgia"/>
              </a:rPr>
              <a:t>• Inspects File 1: Flags moderate container warning.</a:t>
            </a:r>
          </a:p>
          <a:p>
            <a:pPr>
              <a:spcAft>
                <a:spcPts val="400"/>
              </a:spcAft>
            </a:pPr>
            <a:r>
              <a:rPr sz="1000" b="0" i="0">
                <a:solidFill>
                  <a:srgbClr val="343434"/>
                </a:solidFill>
                <a:latin typeface="Georgia"/>
              </a:rPr>
              <a:t>• Inspects File 3: Flags public bucket without knowing who can access it.</a:t>
            </a:r>
          </a:p>
          <a:p>
            <a:pPr>
              <a:spcAft>
                <a:spcPts val="200"/>
              </a:spcAft>
            </a:pPr>
            <a:r>
              <a:rPr sz="1000" b="1" i="0">
                <a:solidFill>
                  <a:srgbClr val="A02020"/>
                </a:solidFill>
                <a:latin typeface="Georgia"/>
              </a:rPr>
              <a:t>• Completely BLIND to the cross-file link: Pod can steal cluster-admin token to exfiltrate private bucket data.</a:t>
            </a:r>
          </a:p>
        </p:txBody>
      </p:sp>
      <p:sp>
        <p:nvSpPr>
          <p:cNvPr id="42" name="Rounded Rectangle 41"/>
          <p:cNvSpPr/>
          <p:nvPr/>
        </p:nvSpPr>
        <p:spPr>
          <a:xfrm>
            <a:off x="6245352" y="3749039"/>
            <a:ext cx="5394960" cy="2651760"/>
          </a:xfrm>
          <a:prstGeom prst="roundRect">
            <a:avLst/>
          </a:prstGeom>
          <a:solidFill>
            <a:srgbClr val="ECE9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45352" y="3749039"/>
            <a:ext cx="5394960" cy="329184"/>
          </a:xfrm>
          <a:prstGeom prst="rect">
            <a:avLst/>
          </a:prstGeom>
          <a:solidFill>
            <a:srgbClr val="2E7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82512" y="3785615"/>
            <a:ext cx="5120640" cy="256032"/>
          </a:xfrm>
          <a:prstGeom prst="rect">
            <a:avLst/>
          </a:prstGeom>
          <a:noFill/>
        </p:spPr>
        <p:txBody>
          <a:bodyPr wrap="square" lIns="0" tIns="0" rIns="0" bIns="0">
            <a:spAutoFit/>
          </a:bodyPr>
          <a:lstStyle/>
          <a:p>
            <a:pPr algn="l"/>
            <a:r>
              <a:rPr sz="1100" b="1" i="0">
                <a:solidFill>
                  <a:srgbClr val="FFFFFF"/>
                </a:solidFill>
                <a:latin typeface="Georgia"/>
              </a:rPr>
              <a:t>Our Proposed Security GNN Architecture</a:t>
            </a:r>
          </a:p>
        </p:txBody>
      </p:sp>
      <p:sp>
        <p:nvSpPr>
          <p:cNvPr id="45" name="TextBox 44"/>
          <p:cNvSpPr txBox="1"/>
          <p:nvPr/>
        </p:nvSpPr>
        <p:spPr>
          <a:xfrm>
            <a:off x="6382512" y="4169663"/>
            <a:ext cx="5120640" cy="2103120"/>
          </a:xfrm>
          <a:prstGeom prst="rect">
            <a:avLst/>
          </a:prstGeom>
          <a:noFill/>
        </p:spPr>
        <p:txBody>
          <a:bodyPr wrap="square" lIns="0" tIns="0" rIns="0" bIns="0">
            <a:spAutoFit/>
          </a:bodyPr>
          <a:lstStyle/>
          <a:p>
            <a:pPr>
              <a:spcAft>
                <a:spcPts val="400"/>
              </a:spcAft>
            </a:pPr>
            <a:r>
              <a:rPr sz="1000" b="0" i="0">
                <a:solidFill>
                  <a:srgbClr val="343434"/>
                </a:solidFill>
                <a:latin typeface="Georgia"/>
              </a:rPr>
              <a:t>• Models all resources and bindings as a heterogeneous graph.</a:t>
            </a:r>
          </a:p>
          <a:p>
            <a:pPr>
              <a:spcAft>
                <a:spcPts val="400"/>
              </a:spcAft>
            </a:pPr>
            <a:r>
              <a:rPr sz="1000" b="0" i="0">
                <a:solidFill>
                  <a:srgbClr val="343434"/>
                </a:solidFill>
                <a:latin typeface="Georgia"/>
              </a:rPr>
              <a:t>• Message Passing: Context from IAM &amp; Storage flows backward to Pod.</a:t>
            </a:r>
          </a:p>
          <a:p>
            <a:pPr>
              <a:spcAft>
                <a:spcPts val="400"/>
              </a:spcAft>
            </a:pPr>
            <a:r>
              <a:rPr sz="1000" b="0" i="0">
                <a:solidFill>
                  <a:srgbClr val="343434"/>
                </a:solidFill>
                <a:latin typeface="Georgia"/>
              </a:rPr>
              <a:t>• Evaluates multi-hop path: Pod → SA → ClusterRole → S3 Bucket.</a:t>
            </a:r>
          </a:p>
          <a:p>
            <a:pPr>
              <a:spcAft>
                <a:spcPts val="200"/>
              </a:spcAft>
            </a:pPr>
            <a:r>
              <a:rPr sz="1000" b="1" i="0">
                <a:solidFill>
                  <a:srgbClr val="2E7D52"/>
                </a:solidFill>
                <a:latin typeface="Georgia"/>
              </a:rPr>
              <a:t>• Uncovers the complete lateral compromise chain as a unified CRITICAL incident, providing holistic prevention.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Oval 1"/>
          <p:cNvSpPr/>
          <p:nvPr/>
        </p:nvSpPr>
        <p:spPr>
          <a:xfrm>
            <a:off x="10149840" y="-36576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81360" y="-292608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474720" y="54864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0" y="621792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07040" y="6035040"/>
            <a:ext cx="2194560" cy="219456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65760" y="-1005840"/>
            <a:ext cx="1645920" cy="164592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47688"/>
            <a:ext cx="12191695" cy="210312"/>
          </a:xfrm>
          <a:prstGeom prst="rect">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65976"/>
            <a:ext cx="11064240" cy="182880"/>
          </a:xfrm>
          <a:prstGeom prst="rect">
            <a:avLst/>
          </a:prstGeom>
          <a:noFill/>
        </p:spPr>
        <p:txBody>
          <a:bodyPr wrap="square" lIns="0" tIns="0" rIns="0" bIns="0">
            <a:spAutoFit/>
          </a:bodyPr>
          <a:lstStyle/>
          <a:p>
            <a:pPr algn="l"/>
            <a:r>
              <a:rPr sz="850" b="0" i="0">
                <a:solidFill>
                  <a:srgbClr val="6E748A"/>
                </a:solidFill>
                <a:latin typeface="Georgia"/>
              </a:rPr>
              <a:t>Cloud Misconfiguration Detection Using Machine Learning  |  Group 8  |  Slide 5 of 9</a:t>
            </a:r>
          </a:p>
        </p:txBody>
      </p:sp>
      <p:sp>
        <p:nvSpPr>
          <p:cNvPr id="10" name="TextBox 9"/>
          <p:cNvSpPr txBox="1"/>
          <p:nvPr/>
        </p:nvSpPr>
        <p:spPr>
          <a:xfrm>
            <a:off x="548640" y="256032"/>
            <a:ext cx="10058400" cy="228600"/>
          </a:xfrm>
          <a:prstGeom prst="rect">
            <a:avLst/>
          </a:prstGeom>
          <a:noFill/>
        </p:spPr>
        <p:txBody>
          <a:bodyPr wrap="square" lIns="0" tIns="0" rIns="0" bIns="0">
            <a:spAutoFit/>
          </a:bodyPr>
          <a:lstStyle/>
          <a:p>
            <a:pPr algn="l"/>
            <a:r>
              <a:rPr sz="900" b="1" i="0">
                <a:solidFill>
                  <a:srgbClr val="5C6898"/>
                </a:solidFill>
                <a:latin typeface="Georgia"/>
              </a:rPr>
              <a:t>SECTION III — EXPERIMENTAL CORE DETAILS</a:t>
            </a:r>
          </a:p>
        </p:txBody>
      </p:sp>
      <p:sp>
        <p:nvSpPr>
          <p:cNvPr id="11" name="TextBox 10"/>
          <p:cNvSpPr txBox="1"/>
          <p:nvPr/>
        </p:nvSpPr>
        <p:spPr>
          <a:xfrm>
            <a:off x="548640" y="502920"/>
            <a:ext cx="10515600" cy="777240"/>
          </a:xfrm>
          <a:prstGeom prst="rect">
            <a:avLst/>
          </a:prstGeom>
          <a:noFill/>
        </p:spPr>
        <p:txBody>
          <a:bodyPr wrap="square" lIns="0" tIns="0" rIns="0" bIns="0">
            <a:spAutoFit/>
          </a:bodyPr>
          <a:lstStyle/>
          <a:p>
            <a:pPr algn="l"/>
            <a:r>
              <a:rPr sz="2400" b="0" i="0">
                <a:solidFill>
                  <a:srgbClr val="2C3461"/>
                </a:solidFill>
                <a:latin typeface="Candal"/>
              </a:rPr>
              <a:t>Dataset, Feature Engineering &amp; Hyperparameter Setup</a:t>
            </a:r>
          </a:p>
        </p:txBody>
      </p:sp>
      <p:sp>
        <p:nvSpPr>
          <p:cNvPr id="12" name="Rectangle 11"/>
          <p:cNvSpPr/>
          <p:nvPr/>
        </p:nvSpPr>
        <p:spPr>
          <a:xfrm>
            <a:off x="548640" y="1261872"/>
            <a:ext cx="1645920" cy="36576"/>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371600"/>
            <a:ext cx="10515600" cy="256032"/>
          </a:xfrm>
          <a:prstGeom prst="rect">
            <a:avLst/>
          </a:prstGeom>
          <a:noFill/>
        </p:spPr>
        <p:txBody>
          <a:bodyPr wrap="square" lIns="0" tIns="0" rIns="0" bIns="0">
            <a:spAutoFit/>
          </a:bodyPr>
          <a:lstStyle/>
          <a:p>
            <a:pPr algn="l"/>
            <a:r>
              <a:rPr sz="1050" b="0" i="1">
                <a:solidFill>
                  <a:srgbClr val="6E748A"/>
                </a:solidFill>
                <a:latin typeface="Georgia"/>
              </a:rPr>
              <a:t>Reproducible experimental protocol executed in cloud_misconfig_experiments.ipynb.</a:t>
            </a:r>
          </a:p>
        </p:txBody>
      </p:sp>
      <p:sp>
        <p:nvSpPr>
          <p:cNvPr id="14" name="Rounded Rectangle 13"/>
          <p:cNvSpPr/>
          <p:nvPr/>
        </p:nvSpPr>
        <p:spPr>
          <a:xfrm>
            <a:off x="548640" y="1719072"/>
            <a:ext cx="3520440" cy="470916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1719072"/>
            <a:ext cx="3520440" cy="347472"/>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1764792"/>
            <a:ext cx="3291840" cy="256032"/>
          </a:xfrm>
          <a:prstGeom prst="rect">
            <a:avLst/>
          </a:prstGeom>
          <a:noFill/>
        </p:spPr>
        <p:txBody>
          <a:bodyPr wrap="square" lIns="0" tIns="0" rIns="0" bIns="0">
            <a:spAutoFit/>
          </a:bodyPr>
          <a:lstStyle/>
          <a:p>
            <a:pPr algn="l"/>
            <a:r>
              <a:rPr sz="1100" b="1" i="0">
                <a:solidFill>
                  <a:srgbClr val="FFFFFF"/>
                </a:solidFill>
                <a:latin typeface="Georgia"/>
              </a:rPr>
              <a:t>1. Multi-Domain Dataset</a:t>
            </a:r>
          </a:p>
        </p:txBody>
      </p:sp>
      <p:sp>
        <p:nvSpPr>
          <p:cNvPr id="17" name="TextBox 16"/>
          <p:cNvSpPr txBox="1"/>
          <p:nvPr/>
        </p:nvSpPr>
        <p:spPr>
          <a:xfrm>
            <a:off x="685800" y="2176272"/>
            <a:ext cx="3246120" cy="4114800"/>
          </a:xfrm>
          <a:prstGeom prst="rect">
            <a:avLst/>
          </a:prstGeom>
          <a:noFill/>
        </p:spPr>
        <p:txBody>
          <a:bodyPr wrap="square" lIns="0" tIns="0" rIns="0" bIns="0">
            <a:spAutoFit/>
          </a:bodyPr>
          <a:lstStyle/>
          <a:p>
            <a:pPr>
              <a:spcAft>
                <a:spcPts val="400"/>
              </a:spcAft>
            </a:pPr>
            <a:r>
              <a:rPr sz="1050" b="1" i="0">
                <a:solidFill>
                  <a:srgbClr val="2C3461"/>
                </a:solidFill>
                <a:latin typeface="Georgia"/>
              </a:rPr>
              <a:t>Dataset Volume: 1,100 Manifests</a:t>
            </a:r>
          </a:p>
          <a:p>
            <a:pPr>
              <a:spcAft>
                <a:spcPts val="600"/>
              </a:spcAft>
            </a:pPr>
            <a:r>
              <a:rPr sz="950" b="0" i="0">
                <a:solidFill>
                  <a:srgbClr val="343434"/>
                </a:solidFill>
                <a:latin typeface="Georgia"/>
              </a:rPr>
              <a:t>• Kubernetes: 600 files (270 Compliant, 330 Misconfigured)
  Pods, Deployments, RBAC ClusterRoles</a:t>
            </a:r>
          </a:p>
          <a:p>
            <a:pPr>
              <a:spcAft>
                <a:spcPts val="600"/>
              </a:spcAft>
            </a:pPr>
            <a:r>
              <a:rPr sz="950" b="0" i="0">
                <a:solidFill>
                  <a:srgbClr val="343434"/>
                </a:solidFill>
                <a:latin typeface="Georgia"/>
              </a:rPr>
              <a:t>• IAM / CloudFormation: 300 templates (135 Compliant, 165 Misconfigured)
  IAM Roles, Trust Policies, S3 Buckets</a:t>
            </a:r>
          </a:p>
          <a:p>
            <a:pPr>
              <a:spcAft>
                <a:spcPts val="800"/>
              </a:spcAft>
            </a:pPr>
            <a:r>
              <a:rPr sz="950" b="0" i="0">
                <a:solidFill>
                  <a:srgbClr val="343434"/>
                </a:solidFill>
                <a:latin typeface="Georgia"/>
              </a:rPr>
              <a:t>• Serverless SAM: 200 templates (90 Compliant, 110 Misconfigured)
  Lambda functions, API Gateways, DLQs</a:t>
            </a:r>
          </a:p>
          <a:p>
            <a:pPr>
              <a:spcAft>
                <a:spcPts val="300"/>
              </a:spcAft>
            </a:pPr>
            <a:r>
              <a:rPr sz="1050" b="1" i="0">
                <a:solidFill>
                  <a:srgbClr val="2C3461"/>
                </a:solidFill>
                <a:latin typeface="Georgia"/>
              </a:rPr>
              <a:t>Consensus Ground Truth:</a:t>
            </a:r>
          </a:p>
          <a:p>
            <a:pPr>
              <a:spcAft>
                <a:spcPts val="200"/>
              </a:spcAft>
            </a:pPr>
            <a:r>
              <a:rPr sz="950" b="0" i="0">
                <a:solidFill>
                  <a:srgbClr val="343434"/>
                </a:solidFill>
                <a:latin typeface="Georgia"/>
              </a:rPr>
              <a:t>Multi-scanner agreement (Checkov, KubeLinter, Terrascan) to eliminate individual tool bias.</a:t>
            </a:r>
          </a:p>
        </p:txBody>
      </p:sp>
      <p:sp>
        <p:nvSpPr>
          <p:cNvPr id="18" name="Rounded Rectangle 17"/>
          <p:cNvSpPr/>
          <p:nvPr/>
        </p:nvSpPr>
        <p:spPr>
          <a:xfrm>
            <a:off x="4334256" y="1719072"/>
            <a:ext cx="3520440" cy="470916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34256" y="1719072"/>
            <a:ext cx="3520440" cy="347472"/>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43984" y="1764792"/>
            <a:ext cx="3291840" cy="256032"/>
          </a:xfrm>
          <a:prstGeom prst="rect">
            <a:avLst/>
          </a:prstGeom>
          <a:noFill/>
        </p:spPr>
        <p:txBody>
          <a:bodyPr wrap="square" lIns="0" tIns="0" rIns="0" bIns="0">
            <a:spAutoFit/>
          </a:bodyPr>
          <a:lstStyle/>
          <a:p>
            <a:pPr algn="l"/>
            <a:r>
              <a:rPr sz="1100" b="1" i="0">
                <a:solidFill>
                  <a:srgbClr val="FFFFFF"/>
                </a:solidFill>
                <a:latin typeface="Georgia"/>
              </a:rPr>
              <a:t>2. 64-D Feature Engineering</a:t>
            </a:r>
          </a:p>
        </p:txBody>
      </p:sp>
      <p:sp>
        <p:nvSpPr>
          <p:cNvPr id="21" name="TextBox 20"/>
          <p:cNvSpPr txBox="1"/>
          <p:nvPr/>
        </p:nvSpPr>
        <p:spPr>
          <a:xfrm>
            <a:off x="4471416" y="2176272"/>
            <a:ext cx="3246120" cy="4114800"/>
          </a:xfrm>
          <a:prstGeom prst="rect">
            <a:avLst/>
          </a:prstGeom>
          <a:noFill/>
        </p:spPr>
        <p:txBody>
          <a:bodyPr wrap="square" lIns="0" tIns="0" rIns="0" bIns="0">
            <a:spAutoFit/>
          </a:bodyPr>
          <a:lstStyle/>
          <a:p>
            <a:pPr>
              <a:spcAft>
                <a:spcPts val="400"/>
              </a:spcAft>
            </a:pPr>
            <a:r>
              <a:rPr sz="1050" b="1" i="0">
                <a:solidFill>
                  <a:srgbClr val="2C3461"/>
                </a:solidFill>
                <a:latin typeface="Georgia"/>
              </a:rPr>
              <a:t>Abstract Syntax Tree (AST) Parsing</a:t>
            </a:r>
          </a:p>
          <a:p>
            <a:pPr>
              <a:spcAft>
                <a:spcPts val="600"/>
              </a:spcAft>
            </a:pPr>
            <a:r>
              <a:rPr sz="950" b="0" i="0">
                <a:solidFill>
                  <a:srgbClr val="343434"/>
                </a:solidFill>
                <a:latin typeface="Georgia"/>
              </a:rPr>
              <a:t>• K8s Security Context (13 feats):
  runAsNonRoot, privileged, hostNetwork, capabilities.add, allowPrivilegeEscalation</a:t>
            </a:r>
          </a:p>
          <a:p>
            <a:pPr>
              <a:spcAft>
                <a:spcPts val="600"/>
              </a:spcAft>
            </a:pPr>
            <a:r>
              <a:rPr sz="950" b="0" i="0">
                <a:solidFill>
                  <a:srgbClr val="343434"/>
                </a:solidFill>
                <a:latin typeface="Georgia"/>
              </a:rPr>
              <a:t>• RBAC Permissions (9 feats):
  wildcard verbs (*), wildcard resources, secrets access, cluster-admin roleRef</a:t>
            </a:r>
          </a:p>
          <a:p>
            <a:pPr>
              <a:spcAft>
                <a:spcPts val="600"/>
              </a:spcAft>
            </a:pPr>
            <a:r>
              <a:rPr sz="950" b="0" i="0">
                <a:solidFill>
                  <a:srgbClr val="343434"/>
                </a:solidFill>
                <a:latin typeface="Georgia"/>
              </a:rPr>
              <a:t>• IAM &amp; Cloud Storage (18 feats):
  iam:PassRole, Action: *, cross-account trust, S3 public-read, bucket encryption</a:t>
            </a:r>
          </a:p>
          <a:p>
            <a:pPr>
              <a:spcAft>
                <a:spcPts val="200"/>
              </a:spcAft>
            </a:pPr>
            <a:r>
              <a:rPr sz="950" b="0" i="0">
                <a:solidFill>
                  <a:srgbClr val="343434"/>
                </a:solidFill>
                <a:latin typeface="Georgia"/>
              </a:rPr>
              <a:t>• Structural &amp; Metadata (24 feats):
  Nesting depth, total keys, comments, labels, image digest pinning, probe presence</a:t>
            </a:r>
          </a:p>
        </p:txBody>
      </p:sp>
      <p:sp>
        <p:nvSpPr>
          <p:cNvPr id="22" name="Rounded Rectangle 21"/>
          <p:cNvSpPr/>
          <p:nvPr/>
        </p:nvSpPr>
        <p:spPr>
          <a:xfrm>
            <a:off x="8119872" y="1719072"/>
            <a:ext cx="3520440" cy="470916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19872" y="1719072"/>
            <a:ext cx="3520440" cy="347472"/>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1764792"/>
            <a:ext cx="3291840" cy="256032"/>
          </a:xfrm>
          <a:prstGeom prst="rect">
            <a:avLst/>
          </a:prstGeom>
          <a:noFill/>
        </p:spPr>
        <p:txBody>
          <a:bodyPr wrap="square" lIns="0" tIns="0" rIns="0" bIns="0">
            <a:spAutoFit/>
          </a:bodyPr>
          <a:lstStyle/>
          <a:p>
            <a:pPr algn="l"/>
            <a:r>
              <a:rPr sz="1100" b="1" i="0">
                <a:solidFill>
                  <a:srgbClr val="FFFFFF"/>
                </a:solidFill>
                <a:latin typeface="Georgia"/>
              </a:rPr>
              <a:t>3. Model Hyperparameters</a:t>
            </a:r>
          </a:p>
        </p:txBody>
      </p:sp>
      <p:sp>
        <p:nvSpPr>
          <p:cNvPr id="25" name="TextBox 24"/>
          <p:cNvSpPr txBox="1"/>
          <p:nvPr/>
        </p:nvSpPr>
        <p:spPr>
          <a:xfrm>
            <a:off x="8257031" y="2176272"/>
            <a:ext cx="3246120" cy="4114800"/>
          </a:xfrm>
          <a:prstGeom prst="rect">
            <a:avLst/>
          </a:prstGeom>
          <a:noFill/>
        </p:spPr>
        <p:txBody>
          <a:bodyPr wrap="square" lIns="0" tIns="0" rIns="0" bIns="0">
            <a:spAutoFit/>
          </a:bodyPr>
          <a:lstStyle/>
          <a:p>
            <a:pPr>
              <a:spcAft>
                <a:spcPts val="300"/>
              </a:spcAft>
            </a:pPr>
            <a:r>
              <a:rPr sz="1050" b="1" i="0">
                <a:solidFill>
                  <a:srgbClr val="2C3461"/>
                </a:solidFill>
                <a:latin typeface="Georgia"/>
              </a:rPr>
              <a:t>Random Forest Triage (Stage 3A):</a:t>
            </a:r>
          </a:p>
          <a:p>
            <a:pPr>
              <a:spcAft>
                <a:spcPts val="800"/>
              </a:spcAft>
            </a:pPr>
            <a:r>
              <a:rPr sz="950" b="0" i="0">
                <a:solidFill>
                  <a:srgbClr val="343434"/>
                </a:solidFill>
                <a:latin typeface="Georgia"/>
              </a:rPr>
              <a:t>• n_estimators = 500, max_depth = 20
• CalibratedClassifierCV (method='sigmoid', 5-fold CV)
• Triage Threshold: 0.90 confidence</a:t>
            </a:r>
          </a:p>
          <a:p>
            <a:pPr>
              <a:spcAft>
                <a:spcPts val="300"/>
              </a:spcAft>
            </a:pPr>
            <a:r>
              <a:rPr sz="1050" b="1" i="0">
                <a:solidFill>
                  <a:srgbClr val="2C3461"/>
                </a:solidFill>
                <a:latin typeface="Georgia"/>
              </a:rPr>
              <a:t>Security GNN (Stage 2):</a:t>
            </a:r>
          </a:p>
          <a:p>
            <a:pPr>
              <a:spcAft>
                <a:spcPts val="800"/>
              </a:spcAft>
            </a:pPr>
            <a:r>
              <a:rPr sz="950" b="0" i="0">
                <a:solidFill>
                  <a:srgbClr val="343434"/>
                </a:solidFill>
                <a:latin typeface="Georgia"/>
              </a:rPr>
              <a:t>• Architecture: Hetero Relational Conv
• Hidden Channels: 128 | Dropout: 0.20
• Optimizer: Adam (lr=0.001, weight_decay=5e-4)
• Epochs: 200 | CrossEntropyLoss</a:t>
            </a:r>
          </a:p>
          <a:p>
            <a:pPr>
              <a:spcAft>
                <a:spcPts val="300"/>
              </a:spcAft>
            </a:pPr>
            <a:r>
              <a:rPr sz="1050" b="1" i="0">
                <a:solidFill>
                  <a:srgbClr val="2C3461"/>
                </a:solidFill>
                <a:latin typeface="Georgia"/>
              </a:rPr>
              <a:t>NLP Intent Classifier (Stage 5):</a:t>
            </a:r>
          </a:p>
          <a:p>
            <a:pPr>
              <a:spcAft>
                <a:spcPts val="200"/>
              </a:spcAft>
            </a:pPr>
            <a:r>
              <a:rPr sz="950" b="0" i="0">
                <a:solidFill>
                  <a:srgbClr val="343434"/>
                </a:solidFill>
                <a:latin typeface="Georgia"/>
              </a:rPr>
              <a:t>• TF-IDF (ngrams=1-2, max_features=1000)
• Balanced Logistic Regression classifier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Oval 1"/>
          <p:cNvSpPr/>
          <p:nvPr/>
        </p:nvSpPr>
        <p:spPr>
          <a:xfrm>
            <a:off x="10149840" y="-36576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81360" y="-292608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474720" y="54864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0" y="621792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07040" y="6035040"/>
            <a:ext cx="2194560" cy="219456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65760" y="-1005840"/>
            <a:ext cx="1645920" cy="164592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47688"/>
            <a:ext cx="12191695" cy="210312"/>
          </a:xfrm>
          <a:prstGeom prst="rect">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65976"/>
            <a:ext cx="11064240" cy="182880"/>
          </a:xfrm>
          <a:prstGeom prst="rect">
            <a:avLst/>
          </a:prstGeom>
          <a:noFill/>
        </p:spPr>
        <p:txBody>
          <a:bodyPr wrap="square" lIns="0" tIns="0" rIns="0" bIns="0">
            <a:spAutoFit/>
          </a:bodyPr>
          <a:lstStyle/>
          <a:p>
            <a:pPr algn="l"/>
            <a:r>
              <a:rPr sz="850" b="0" i="0">
                <a:solidFill>
                  <a:srgbClr val="6E748A"/>
                </a:solidFill>
                <a:latin typeface="Georgia"/>
              </a:rPr>
              <a:t>Cloud Misconfiguration Detection Using Machine Learning  |  Group 8  |  Slide 6 of 9</a:t>
            </a:r>
          </a:p>
        </p:txBody>
      </p:sp>
      <p:sp>
        <p:nvSpPr>
          <p:cNvPr id="10" name="TextBox 9"/>
          <p:cNvSpPr txBox="1"/>
          <p:nvPr/>
        </p:nvSpPr>
        <p:spPr>
          <a:xfrm>
            <a:off x="548640" y="256032"/>
            <a:ext cx="10058400" cy="228600"/>
          </a:xfrm>
          <a:prstGeom prst="rect">
            <a:avLst/>
          </a:prstGeom>
          <a:noFill/>
        </p:spPr>
        <p:txBody>
          <a:bodyPr wrap="square" lIns="0" tIns="0" rIns="0" bIns="0">
            <a:spAutoFit/>
          </a:bodyPr>
          <a:lstStyle/>
          <a:p>
            <a:pPr algn="l"/>
            <a:r>
              <a:rPr sz="900" b="1" i="0">
                <a:solidFill>
                  <a:srgbClr val="5C6898"/>
                </a:solidFill>
                <a:latin typeface="Georgia"/>
              </a:rPr>
              <a:t>SECTION IV — RESULTS</a:t>
            </a:r>
          </a:p>
        </p:txBody>
      </p:sp>
      <p:sp>
        <p:nvSpPr>
          <p:cNvPr id="11" name="TextBox 10"/>
          <p:cNvSpPr txBox="1"/>
          <p:nvPr/>
        </p:nvSpPr>
        <p:spPr>
          <a:xfrm>
            <a:off x="548640" y="502920"/>
            <a:ext cx="10515600" cy="777240"/>
          </a:xfrm>
          <a:prstGeom prst="rect">
            <a:avLst/>
          </a:prstGeom>
          <a:noFill/>
        </p:spPr>
        <p:txBody>
          <a:bodyPr wrap="square" lIns="0" tIns="0" rIns="0" bIns="0">
            <a:spAutoFit/>
          </a:bodyPr>
          <a:lstStyle/>
          <a:p>
            <a:pPr algn="l"/>
            <a:r>
              <a:rPr sz="2400" b="0" i="0">
                <a:solidFill>
                  <a:srgbClr val="2C3461"/>
                </a:solidFill>
                <a:latin typeface="Candal"/>
              </a:rPr>
              <a:t>Empirical Evaluation: Confusion Matrix &amp; Multi-Domain Metrics</a:t>
            </a:r>
          </a:p>
        </p:txBody>
      </p:sp>
      <p:sp>
        <p:nvSpPr>
          <p:cNvPr id="12" name="Rectangle 11"/>
          <p:cNvSpPr/>
          <p:nvPr/>
        </p:nvSpPr>
        <p:spPr>
          <a:xfrm>
            <a:off x="548640" y="1261872"/>
            <a:ext cx="1645920" cy="36576"/>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353312"/>
            <a:ext cx="10515600" cy="256032"/>
          </a:xfrm>
          <a:prstGeom prst="rect">
            <a:avLst/>
          </a:prstGeom>
          <a:noFill/>
        </p:spPr>
        <p:txBody>
          <a:bodyPr wrap="square" lIns="0" tIns="0" rIns="0" bIns="0">
            <a:spAutoFit/>
          </a:bodyPr>
          <a:lstStyle/>
          <a:p>
            <a:pPr algn="l"/>
            <a:r>
              <a:rPr sz="1050" b="0" i="1">
                <a:solidFill>
                  <a:srgbClr val="6E748A"/>
                </a:solidFill>
                <a:latin typeface="Georgia"/>
              </a:rPr>
              <a:t>Evaluated on 220 held-out test manifests (stratified 80/20 split) and 1,100 connected graph security nodes.</a:t>
            </a:r>
          </a:p>
        </p:txBody>
      </p:sp>
      <p:sp>
        <p:nvSpPr>
          <p:cNvPr id="14" name="Rounded Rectangle 13"/>
          <p:cNvSpPr/>
          <p:nvPr/>
        </p:nvSpPr>
        <p:spPr>
          <a:xfrm>
            <a:off x="548640" y="1664208"/>
            <a:ext cx="2651760" cy="1078992"/>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1664208"/>
            <a:ext cx="2651760" cy="54864"/>
          </a:xfrm>
          <a:prstGeom prst="rect">
            <a:avLst/>
          </a:prstGeom>
          <a:solidFill>
            <a:srgbClr val="2E7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1737360"/>
            <a:ext cx="2468880" cy="384048"/>
          </a:xfrm>
          <a:prstGeom prst="rect">
            <a:avLst/>
          </a:prstGeom>
          <a:noFill/>
        </p:spPr>
        <p:txBody>
          <a:bodyPr wrap="square" lIns="0" tIns="0" rIns="0" bIns="0">
            <a:spAutoFit/>
          </a:bodyPr>
          <a:lstStyle/>
          <a:p>
            <a:pPr algn="ctr"/>
            <a:r>
              <a:rPr sz="2200" b="0" i="0">
                <a:solidFill>
                  <a:srgbClr val="2E7D52"/>
                </a:solidFill>
                <a:latin typeface="Candal"/>
              </a:rPr>
              <a:t>99 / 99</a:t>
            </a:r>
          </a:p>
        </p:txBody>
      </p:sp>
      <p:sp>
        <p:nvSpPr>
          <p:cNvPr id="17" name="TextBox 16"/>
          <p:cNvSpPr txBox="1"/>
          <p:nvPr/>
        </p:nvSpPr>
        <p:spPr>
          <a:xfrm>
            <a:off x="640080" y="2139696"/>
            <a:ext cx="2468880" cy="219456"/>
          </a:xfrm>
          <a:prstGeom prst="rect">
            <a:avLst/>
          </a:prstGeom>
          <a:noFill/>
        </p:spPr>
        <p:txBody>
          <a:bodyPr wrap="square" lIns="0" tIns="0" rIns="0" bIns="0">
            <a:spAutoFit/>
          </a:bodyPr>
          <a:lstStyle/>
          <a:p>
            <a:pPr algn="ctr"/>
            <a:r>
              <a:rPr sz="1050" b="1" i="0">
                <a:solidFill>
                  <a:srgbClr val="2C3461"/>
                </a:solidFill>
                <a:latin typeface="Georgia"/>
              </a:rPr>
              <a:t>True Negatives (TN)</a:t>
            </a:r>
          </a:p>
        </p:txBody>
      </p:sp>
      <p:sp>
        <p:nvSpPr>
          <p:cNvPr id="18" name="TextBox 17"/>
          <p:cNvSpPr txBox="1"/>
          <p:nvPr/>
        </p:nvSpPr>
        <p:spPr>
          <a:xfrm>
            <a:off x="640080" y="2377440"/>
            <a:ext cx="2468880" cy="292608"/>
          </a:xfrm>
          <a:prstGeom prst="rect">
            <a:avLst/>
          </a:prstGeom>
          <a:noFill/>
        </p:spPr>
        <p:txBody>
          <a:bodyPr wrap="square" lIns="0" tIns="0" rIns="0" bIns="0">
            <a:spAutoFit/>
          </a:bodyPr>
          <a:lstStyle/>
          <a:p>
            <a:pPr algn="ctr"/>
            <a:r>
              <a:rPr sz="850" b="0" i="0">
                <a:solidFill>
                  <a:srgbClr val="6E748A"/>
                </a:solidFill>
                <a:latin typeface="Georgia"/>
              </a:rPr>
              <a:t>100% Specificity (Clean passed)</a:t>
            </a:r>
          </a:p>
        </p:txBody>
      </p:sp>
      <p:sp>
        <p:nvSpPr>
          <p:cNvPr id="19" name="Rounded Rectangle 18"/>
          <p:cNvSpPr/>
          <p:nvPr/>
        </p:nvSpPr>
        <p:spPr>
          <a:xfrm>
            <a:off x="3364992" y="1664208"/>
            <a:ext cx="2651760" cy="1078992"/>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64992" y="1664208"/>
            <a:ext cx="2651760" cy="54864"/>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737360"/>
            <a:ext cx="2468880" cy="384048"/>
          </a:xfrm>
          <a:prstGeom prst="rect">
            <a:avLst/>
          </a:prstGeom>
          <a:noFill/>
        </p:spPr>
        <p:txBody>
          <a:bodyPr wrap="square" lIns="0" tIns="0" rIns="0" bIns="0">
            <a:spAutoFit/>
          </a:bodyPr>
          <a:lstStyle/>
          <a:p>
            <a:pPr algn="ctr"/>
            <a:r>
              <a:rPr sz="2200" b="0" i="0">
                <a:solidFill>
                  <a:srgbClr val="2C3461"/>
                </a:solidFill>
                <a:latin typeface="Candal"/>
              </a:rPr>
              <a:t>121 / 121</a:t>
            </a:r>
          </a:p>
        </p:txBody>
      </p:sp>
      <p:sp>
        <p:nvSpPr>
          <p:cNvPr id="22" name="TextBox 21"/>
          <p:cNvSpPr txBox="1"/>
          <p:nvPr/>
        </p:nvSpPr>
        <p:spPr>
          <a:xfrm>
            <a:off x="3456432" y="2139696"/>
            <a:ext cx="2468880" cy="219456"/>
          </a:xfrm>
          <a:prstGeom prst="rect">
            <a:avLst/>
          </a:prstGeom>
          <a:noFill/>
        </p:spPr>
        <p:txBody>
          <a:bodyPr wrap="square" lIns="0" tIns="0" rIns="0" bIns="0">
            <a:spAutoFit/>
          </a:bodyPr>
          <a:lstStyle/>
          <a:p>
            <a:pPr algn="ctr"/>
            <a:r>
              <a:rPr sz="1050" b="1" i="0">
                <a:solidFill>
                  <a:srgbClr val="2C3461"/>
                </a:solidFill>
                <a:latin typeface="Georgia"/>
              </a:rPr>
              <a:t>True Positives (TP)</a:t>
            </a:r>
          </a:p>
        </p:txBody>
      </p:sp>
      <p:sp>
        <p:nvSpPr>
          <p:cNvPr id="23" name="TextBox 22"/>
          <p:cNvSpPr txBox="1"/>
          <p:nvPr/>
        </p:nvSpPr>
        <p:spPr>
          <a:xfrm>
            <a:off x="3456432" y="2377440"/>
            <a:ext cx="2468880" cy="292608"/>
          </a:xfrm>
          <a:prstGeom prst="rect">
            <a:avLst/>
          </a:prstGeom>
          <a:noFill/>
        </p:spPr>
        <p:txBody>
          <a:bodyPr wrap="square" lIns="0" tIns="0" rIns="0" bIns="0">
            <a:spAutoFit/>
          </a:bodyPr>
          <a:lstStyle/>
          <a:p>
            <a:pPr algn="ctr"/>
            <a:r>
              <a:rPr sz="850" b="0" i="0">
                <a:solidFill>
                  <a:srgbClr val="6E748A"/>
                </a:solidFill>
                <a:latin typeface="Georgia"/>
              </a:rPr>
              <a:t>100% Sensitivity (Threats caught)</a:t>
            </a:r>
          </a:p>
        </p:txBody>
      </p:sp>
      <p:sp>
        <p:nvSpPr>
          <p:cNvPr id="24" name="Rounded Rectangle 23"/>
          <p:cNvSpPr/>
          <p:nvPr/>
        </p:nvSpPr>
        <p:spPr>
          <a:xfrm>
            <a:off x="6181344" y="1664208"/>
            <a:ext cx="2651760" cy="1078992"/>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81344" y="1664208"/>
            <a:ext cx="2651760" cy="54864"/>
          </a:xfrm>
          <a:prstGeom prst="rect">
            <a:avLst/>
          </a:prstGeom>
          <a:solidFill>
            <a:srgbClr val="2E7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2783" y="1737360"/>
            <a:ext cx="2468880" cy="384048"/>
          </a:xfrm>
          <a:prstGeom prst="rect">
            <a:avLst/>
          </a:prstGeom>
          <a:noFill/>
        </p:spPr>
        <p:txBody>
          <a:bodyPr wrap="square" lIns="0" tIns="0" rIns="0" bIns="0">
            <a:spAutoFit/>
          </a:bodyPr>
          <a:lstStyle/>
          <a:p>
            <a:pPr algn="ctr"/>
            <a:r>
              <a:rPr sz="2200" b="0" i="0">
                <a:solidFill>
                  <a:srgbClr val="2E7D52"/>
                </a:solidFill>
                <a:latin typeface="Candal"/>
              </a:rPr>
              <a:t>0</a:t>
            </a:r>
          </a:p>
        </p:txBody>
      </p:sp>
      <p:sp>
        <p:nvSpPr>
          <p:cNvPr id="27" name="TextBox 26"/>
          <p:cNvSpPr txBox="1"/>
          <p:nvPr/>
        </p:nvSpPr>
        <p:spPr>
          <a:xfrm>
            <a:off x="6272783" y="2139696"/>
            <a:ext cx="2468880" cy="219456"/>
          </a:xfrm>
          <a:prstGeom prst="rect">
            <a:avLst/>
          </a:prstGeom>
          <a:noFill/>
        </p:spPr>
        <p:txBody>
          <a:bodyPr wrap="square" lIns="0" tIns="0" rIns="0" bIns="0">
            <a:spAutoFit/>
          </a:bodyPr>
          <a:lstStyle/>
          <a:p>
            <a:pPr algn="ctr"/>
            <a:r>
              <a:rPr sz="1050" b="1" i="0">
                <a:solidFill>
                  <a:srgbClr val="2C3461"/>
                </a:solidFill>
                <a:latin typeface="Georgia"/>
              </a:rPr>
              <a:t>False Positives (FP)</a:t>
            </a:r>
          </a:p>
        </p:txBody>
      </p:sp>
      <p:sp>
        <p:nvSpPr>
          <p:cNvPr id="28" name="TextBox 27"/>
          <p:cNvSpPr txBox="1"/>
          <p:nvPr/>
        </p:nvSpPr>
        <p:spPr>
          <a:xfrm>
            <a:off x="6272783" y="2377440"/>
            <a:ext cx="2468880" cy="292608"/>
          </a:xfrm>
          <a:prstGeom prst="rect">
            <a:avLst/>
          </a:prstGeom>
          <a:noFill/>
        </p:spPr>
        <p:txBody>
          <a:bodyPr wrap="square" lIns="0" tIns="0" rIns="0" bIns="0">
            <a:spAutoFit/>
          </a:bodyPr>
          <a:lstStyle/>
          <a:p>
            <a:pPr algn="ctr"/>
            <a:r>
              <a:rPr sz="850" b="0" i="0">
                <a:solidFill>
                  <a:srgbClr val="6E748A"/>
                </a:solidFill>
                <a:latin typeface="Georgia"/>
              </a:rPr>
              <a:t>Zero alert fatigue for developers</a:t>
            </a:r>
          </a:p>
        </p:txBody>
      </p:sp>
      <p:sp>
        <p:nvSpPr>
          <p:cNvPr id="29" name="Rounded Rectangle 28"/>
          <p:cNvSpPr/>
          <p:nvPr/>
        </p:nvSpPr>
        <p:spPr>
          <a:xfrm>
            <a:off x="8997696" y="1664208"/>
            <a:ext cx="2651760" cy="1078992"/>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97696" y="1664208"/>
            <a:ext cx="2651760" cy="54864"/>
          </a:xfrm>
          <a:prstGeom prst="rect">
            <a:avLst/>
          </a:prstGeom>
          <a:solidFill>
            <a:srgbClr val="A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89136" y="1737360"/>
            <a:ext cx="2468880" cy="384048"/>
          </a:xfrm>
          <a:prstGeom prst="rect">
            <a:avLst/>
          </a:prstGeom>
          <a:noFill/>
        </p:spPr>
        <p:txBody>
          <a:bodyPr wrap="square" lIns="0" tIns="0" rIns="0" bIns="0">
            <a:spAutoFit/>
          </a:bodyPr>
          <a:lstStyle/>
          <a:p>
            <a:pPr algn="ctr"/>
            <a:r>
              <a:rPr sz="2200" b="0" i="0">
                <a:solidFill>
                  <a:srgbClr val="A02020"/>
                </a:solidFill>
                <a:latin typeface="Candal"/>
              </a:rPr>
              <a:t>0</a:t>
            </a:r>
          </a:p>
        </p:txBody>
      </p:sp>
      <p:sp>
        <p:nvSpPr>
          <p:cNvPr id="32" name="TextBox 31"/>
          <p:cNvSpPr txBox="1"/>
          <p:nvPr/>
        </p:nvSpPr>
        <p:spPr>
          <a:xfrm>
            <a:off x="9089136" y="2139696"/>
            <a:ext cx="2468880" cy="219456"/>
          </a:xfrm>
          <a:prstGeom prst="rect">
            <a:avLst/>
          </a:prstGeom>
          <a:noFill/>
        </p:spPr>
        <p:txBody>
          <a:bodyPr wrap="square" lIns="0" tIns="0" rIns="0" bIns="0">
            <a:spAutoFit/>
          </a:bodyPr>
          <a:lstStyle/>
          <a:p>
            <a:pPr algn="ctr"/>
            <a:r>
              <a:rPr sz="1050" b="1" i="0">
                <a:solidFill>
                  <a:srgbClr val="2C3461"/>
                </a:solidFill>
                <a:latin typeface="Georgia"/>
              </a:rPr>
              <a:t>False Negatives (FN)</a:t>
            </a:r>
          </a:p>
        </p:txBody>
      </p:sp>
      <p:sp>
        <p:nvSpPr>
          <p:cNvPr id="33" name="TextBox 32"/>
          <p:cNvSpPr txBox="1"/>
          <p:nvPr/>
        </p:nvSpPr>
        <p:spPr>
          <a:xfrm>
            <a:off x="9089136" y="2377440"/>
            <a:ext cx="2468880" cy="292608"/>
          </a:xfrm>
          <a:prstGeom prst="rect">
            <a:avLst/>
          </a:prstGeom>
          <a:noFill/>
        </p:spPr>
        <p:txBody>
          <a:bodyPr wrap="square" lIns="0" tIns="0" rIns="0" bIns="0">
            <a:spAutoFit/>
          </a:bodyPr>
          <a:lstStyle/>
          <a:p>
            <a:pPr algn="ctr"/>
            <a:r>
              <a:rPr sz="850" b="0" i="0">
                <a:solidFill>
                  <a:srgbClr val="6E748A"/>
                </a:solidFill>
                <a:latin typeface="Georgia"/>
              </a:rPr>
              <a:t>Zero security exploits missed!</a:t>
            </a:r>
          </a:p>
        </p:txBody>
      </p:sp>
      <p:sp>
        <p:nvSpPr>
          <p:cNvPr id="34" name="Rounded Rectangle 33"/>
          <p:cNvSpPr/>
          <p:nvPr/>
        </p:nvSpPr>
        <p:spPr>
          <a:xfrm>
            <a:off x="548640" y="2852928"/>
            <a:ext cx="5349240" cy="329184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2852928"/>
            <a:ext cx="5349240" cy="329184"/>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2889504"/>
            <a:ext cx="5029200" cy="256032"/>
          </a:xfrm>
          <a:prstGeom prst="rect">
            <a:avLst/>
          </a:prstGeom>
          <a:noFill/>
        </p:spPr>
        <p:txBody>
          <a:bodyPr wrap="square" lIns="0" tIns="0" rIns="0" bIns="0">
            <a:spAutoFit/>
          </a:bodyPr>
          <a:lstStyle/>
          <a:p>
            <a:pPr algn="l"/>
            <a:r>
              <a:rPr sz="1100" b="1" i="0">
                <a:solidFill>
                  <a:srgbClr val="FFFFFF"/>
                </a:solidFill>
                <a:latin typeface="Georgia"/>
              </a:rPr>
              <a:t>Visual Confusion Matrix (Held-Out Test Set, N = 220)</a:t>
            </a:r>
          </a:p>
        </p:txBody>
      </p:sp>
      <p:sp>
        <p:nvSpPr>
          <p:cNvPr id="37" name="TextBox 36"/>
          <p:cNvSpPr txBox="1"/>
          <p:nvPr/>
        </p:nvSpPr>
        <p:spPr>
          <a:xfrm>
            <a:off x="2011680" y="3255264"/>
            <a:ext cx="1737360" cy="201168"/>
          </a:xfrm>
          <a:prstGeom prst="rect">
            <a:avLst/>
          </a:prstGeom>
          <a:noFill/>
        </p:spPr>
        <p:txBody>
          <a:bodyPr wrap="square" lIns="0" tIns="0" rIns="0" bIns="0">
            <a:spAutoFit/>
          </a:bodyPr>
          <a:lstStyle/>
          <a:p>
            <a:pPr algn="ctr"/>
            <a:r>
              <a:rPr sz="850" b="1" i="0">
                <a:solidFill>
                  <a:srgbClr val="2C3461"/>
                </a:solidFill>
                <a:latin typeface="Georgia"/>
              </a:rPr>
              <a:t>PREDICTED: COMPLIANT</a:t>
            </a:r>
          </a:p>
        </p:txBody>
      </p:sp>
      <p:sp>
        <p:nvSpPr>
          <p:cNvPr id="38" name="TextBox 37"/>
          <p:cNvSpPr txBox="1"/>
          <p:nvPr/>
        </p:nvSpPr>
        <p:spPr>
          <a:xfrm>
            <a:off x="3931920" y="3255264"/>
            <a:ext cx="1737360" cy="201168"/>
          </a:xfrm>
          <a:prstGeom prst="rect">
            <a:avLst/>
          </a:prstGeom>
          <a:noFill/>
        </p:spPr>
        <p:txBody>
          <a:bodyPr wrap="square" lIns="0" tIns="0" rIns="0" bIns="0">
            <a:spAutoFit/>
          </a:bodyPr>
          <a:lstStyle/>
          <a:p>
            <a:pPr algn="ctr"/>
            <a:r>
              <a:rPr sz="850" b="1" i="0">
                <a:solidFill>
                  <a:srgbClr val="2C3461"/>
                </a:solidFill>
                <a:latin typeface="Georgia"/>
              </a:rPr>
              <a:t>PREDICTED: MISCONFIGURED</a:t>
            </a:r>
          </a:p>
        </p:txBody>
      </p:sp>
      <p:sp>
        <p:nvSpPr>
          <p:cNvPr id="39" name="TextBox 38"/>
          <p:cNvSpPr txBox="1"/>
          <p:nvPr/>
        </p:nvSpPr>
        <p:spPr>
          <a:xfrm>
            <a:off x="658368" y="3611880"/>
            <a:ext cx="1234440" cy="640080"/>
          </a:xfrm>
          <a:prstGeom prst="rect">
            <a:avLst/>
          </a:prstGeom>
          <a:noFill/>
        </p:spPr>
        <p:txBody>
          <a:bodyPr wrap="square" lIns="0" tIns="0" rIns="0" bIns="0">
            <a:spAutoFit/>
          </a:bodyPr>
          <a:lstStyle/>
          <a:p>
            <a:pPr algn="ctr"/>
            <a:r>
              <a:rPr sz="850" b="1" i="0">
                <a:solidFill>
                  <a:srgbClr val="2C3461"/>
                </a:solidFill>
                <a:latin typeface="Georgia"/>
              </a:rPr>
              <a:t>ACTUAL:
COMPLIANT
(99)</a:t>
            </a:r>
          </a:p>
        </p:txBody>
      </p:sp>
      <p:sp>
        <p:nvSpPr>
          <p:cNvPr id="40" name="TextBox 39"/>
          <p:cNvSpPr txBox="1"/>
          <p:nvPr/>
        </p:nvSpPr>
        <p:spPr>
          <a:xfrm>
            <a:off x="658368" y="4526280"/>
            <a:ext cx="1234440" cy="640080"/>
          </a:xfrm>
          <a:prstGeom prst="rect">
            <a:avLst/>
          </a:prstGeom>
          <a:noFill/>
        </p:spPr>
        <p:txBody>
          <a:bodyPr wrap="square" lIns="0" tIns="0" rIns="0" bIns="0">
            <a:spAutoFit/>
          </a:bodyPr>
          <a:lstStyle/>
          <a:p>
            <a:pPr algn="ctr"/>
            <a:r>
              <a:rPr sz="850" b="1" i="0">
                <a:solidFill>
                  <a:srgbClr val="2C3461"/>
                </a:solidFill>
                <a:latin typeface="Georgia"/>
              </a:rPr>
              <a:t>ACTUAL:
MISCONFIG
(121)</a:t>
            </a:r>
          </a:p>
        </p:txBody>
      </p:sp>
      <p:sp>
        <p:nvSpPr>
          <p:cNvPr id="41" name="Rounded Rectangle 40"/>
          <p:cNvSpPr/>
          <p:nvPr/>
        </p:nvSpPr>
        <p:spPr>
          <a:xfrm>
            <a:off x="2011680" y="3493008"/>
            <a:ext cx="1783080" cy="868680"/>
          </a:xfrm>
          <a:prstGeom prst="roundRect">
            <a:avLst/>
          </a:prstGeom>
          <a:solidFill>
            <a:srgbClr val="EAF5EE"/>
          </a:solidFill>
          <a:ln w="19050">
            <a:solidFill>
              <a:srgbClr val="2E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57400" y="3547872"/>
            <a:ext cx="1691640" cy="347472"/>
          </a:xfrm>
          <a:prstGeom prst="rect">
            <a:avLst/>
          </a:prstGeom>
          <a:noFill/>
        </p:spPr>
        <p:txBody>
          <a:bodyPr wrap="square" lIns="0" tIns="0" rIns="0" bIns="0">
            <a:spAutoFit/>
          </a:bodyPr>
          <a:lstStyle/>
          <a:p>
            <a:pPr algn="ctr"/>
            <a:r>
              <a:rPr sz="2000" b="0" i="0">
                <a:solidFill>
                  <a:srgbClr val="2E7D52"/>
                </a:solidFill>
                <a:latin typeface="Candal"/>
              </a:rPr>
              <a:t>99</a:t>
            </a:r>
          </a:p>
        </p:txBody>
      </p:sp>
      <p:sp>
        <p:nvSpPr>
          <p:cNvPr id="43" name="TextBox 42"/>
          <p:cNvSpPr txBox="1"/>
          <p:nvPr/>
        </p:nvSpPr>
        <p:spPr>
          <a:xfrm>
            <a:off x="2057400" y="3913632"/>
            <a:ext cx="1691640" cy="384048"/>
          </a:xfrm>
          <a:prstGeom prst="rect">
            <a:avLst/>
          </a:prstGeom>
          <a:noFill/>
        </p:spPr>
        <p:txBody>
          <a:bodyPr wrap="square" lIns="0" tIns="0" rIns="0" bIns="0">
            <a:spAutoFit/>
          </a:bodyPr>
          <a:lstStyle/>
          <a:p>
            <a:pPr algn="ctr"/>
            <a:r>
              <a:rPr sz="800" b="0" i="0">
                <a:solidFill>
                  <a:srgbClr val="343434"/>
                </a:solidFill>
                <a:latin typeface="Georgia"/>
              </a:rPr>
              <a:t>True Negative (TN)
45.0% · Clean Config</a:t>
            </a:r>
          </a:p>
        </p:txBody>
      </p:sp>
      <p:sp>
        <p:nvSpPr>
          <p:cNvPr id="44" name="Rounded Rectangle 43"/>
          <p:cNvSpPr/>
          <p:nvPr/>
        </p:nvSpPr>
        <p:spPr>
          <a:xfrm>
            <a:off x="3931920" y="3493008"/>
            <a:ext cx="1783080" cy="868680"/>
          </a:xfrm>
          <a:prstGeom prst="roundRect">
            <a:avLst/>
          </a:prstGeom>
          <a:solidFill>
            <a:srgbClr val="ECE9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77639" y="3547872"/>
            <a:ext cx="1691640" cy="347472"/>
          </a:xfrm>
          <a:prstGeom prst="rect">
            <a:avLst/>
          </a:prstGeom>
          <a:noFill/>
        </p:spPr>
        <p:txBody>
          <a:bodyPr wrap="square" lIns="0" tIns="0" rIns="0" bIns="0">
            <a:spAutoFit/>
          </a:bodyPr>
          <a:lstStyle/>
          <a:p>
            <a:pPr algn="ctr"/>
            <a:r>
              <a:rPr sz="2000" b="0" i="0">
                <a:solidFill>
                  <a:srgbClr val="6E748A"/>
                </a:solidFill>
                <a:latin typeface="Candal"/>
              </a:rPr>
              <a:t>0</a:t>
            </a:r>
          </a:p>
        </p:txBody>
      </p:sp>
      <p:sp>
        <p:nvSpPr>
          <p:cNvPr id="46" name="TextBox 45"/>
          <p:cNvSpPr txBox="1"/>
          <p:nvPr/>
        </p:nvSpPr>
        <p:spPr>
          <a:xfrm>
            <a:off x="3977639" y="3913632"/>
            <a:ext cx="1691640" cy="384048"/>
          </a:xfrm>
          <a:prstGeom prst="rect">
            <a:avLst/>
          </a:prstGeom>
          <a:noFill/>
        </p:spPr>
        <p:txBody>
          <a:bodyPr wrap="square" lIns="0" tIns="0" rIns="0" bIns="0">
            <a:spAutoFit/>
          </a:bodyPr>
          <a:lstStyle/>
          <a:p>
            <a:pPr algn="ctr"/>
            <a:r>
              <a:rPr sz="800" b="0" i="0">
                <a:solidFill>
                  <a:srgbClr val="6E748A"/>
                </a:solidFill>
                <a:latin typeface="Georgia"/>
              </a:rPr>
              <a:t>False Positive (FP)
0.0% · Zero False Alarms</a:t>
            </a:r>
          </a:p>
        </p:txBody>
      </p:sp>
      <p:sp>
        <p:nvSpPr>
          <p:cNvPr id="47" name="Rounded Rectangle 46"/>
          <p:cNvSpPr/>
          <p:nvPr/>
        </p:nvSpPr>
        <p:spPr>
          <a:xfrm>
            <a:off x="2011680" y="4462272"/>
            <a:ext cx="1783080" cy="868680"/>
          </a:xfrm>
          <a:prstGeom prst="roundRect">
            <a:avLst/>
          </a:prstGeom>
          <a:solidFill>
            <a:srgbClr val="ECE9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057400" y="4517136"/>
            <a:ext cx="1691640" cy="347472"/>
          </a:xfrm>
          <a:prstGeom prst="rect">
            <a:avLst/>
          </a:prstGeom>
          <a:noFill/>
        </p:spPr>
        <p:txBody>
          <a:bodyPr wrap="square" lIns="0" tIns="0" rIns="0" bIns="0">
            <a:spAutoFit/>
          </a:bodyPr>
          <a:lstStyle/>
          <a:p>
            <a:pPr algn="ctr"/>
            <a:r>
              <a:rPr sz="2000" b="0" i="0">
                <a:solidFill>
                  <a:srgbClr val="6E748A"/>
                </a:solidFill>
                <a:latin typeface="Candal"/>
              </a:rPr>
              <a:t>0</a:t>
            </a:r>
          </a:p>
        </p:txBody>
      </p:sp>
      <p:sp>
        <p:nvSpPr>
          <p:cNvPr id="49" name="TextBox 48"/>
          <p:cNvSpPr txBox="1"/>
          <p:nvPr/>
        </p:nvSpPr>
        <p:spPr>
          <a:xfrm>
            <a:off x="2057400" y="4882896"/>
            <a:ext cx="1691640" cy="384048"/>
          </a:xfrm>
          <a:prstGeom prst="rect">
            <a:avLst/>
          </a:prstGeom>
          <a:noFill/>
        </p:spPr>
        <p:txBody>
          <a:bodyPr wrap="square" lIns="0" tIns="0" rIns="0" bIns="0">
            <a:spAutoFit/>
          </a:bodyPr>
          <a:lstStyle/>
          <a:p>
            <a:pPr algn="ctr"/>
            <a:r>
              <a:rPr sz="800" b="0" i="0">
                <a:solidFill>
                  <a:srgbClr val="6E748A"/>
                </a:solidFill>
                <a:latin typeface="Georgia"/>
              </a:rPr>
              <a:t>False Negative (FN)
0.0% · Zero Missed Breaches</a:t>
            </a:r>
          </a:p>
        </p:txBody>
      </p:sp>
      <p:sp>
        <p:nvSpPr>
          <p:cNvPr id="50" name="Rounded Rectangle 49"/>
          <p:cNvSpPr/>
          <p:nvPr/>
        </p:nvSpPr>
        <p:spPr>
          <a:xfrm>
            <a:off x="3931920" y="4462272"/>
            <a:ext cx="1783080" cy="868680"/>
          </a:xfrm>
          <a:prstGeom prst="roundRect">
            <a:avLst/>
          </a:prstGeom>
          <a:solidFill>
            <a:srgbClr val="EAEEF8"/>
          </a:solidFill>
          <a:ln w="19050">
            <a:solidFill>
              <a:srgbClr val="2C34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977639" y="4517136"/>
            <a:ext cx="1691640" cy="347472"/>
          </a:xfrm>
          <a:prstGeom prst="rect">
            <a:avLst/>
          </a:prstGeom>
          <a:noFill/>
        </p:spPr>
        <p:txBody>
          <a:bodyPr wrap="square" lIns="0" tIns="0" rIns="0" bIns="0">
            <a:spAutoFit/>
          </a:bodyPr>
          <a:lstStyle/>
          <a:p>
            <a:pPr algn="ctr"/>
            <a:r>
              <a:rPr sz="2000" b="0" i="0">
                <a:solidFill>
                  <a:srgbClr val="2C3461"/>
                </a:solidFill>
                <a:latin typeface="Candal"/>
              </a:rPr>
              <a:t>121</a:t>
            </a:r>
          </a:p>
        </p:txBody>
      </p:sp>
      <p:sp>
        <p:nvSpPr>
          <p:cNvPr id="52" name="TextBox 51"/>
          <p:cNvSpPr txBox="1"/>
          <p:nvPr/>
        </p:nvSpPr>
        <p:spPr>
          <a:xfrm>
            <a:off x="3977639" y="4882896"/>
            <a:ext cx="1691640" cy="384048"/>
          </a:xfrm>
          <a:prstGeom prst="rect">
            <a:avLst/>
          </a:prstGeom>
          <a:noFill/>
        </p:spPr>
        <p:txBody>
          <a:bodyPr wrap="square" lIns="0" tIns="0" rIns="0" bIns="0">
            <a:spAutoFit/>
          </a:bodyPr>
          <a:lstStyle/>
          <a:p>
            <a:pPr algn="ctr"/>
            <a:r>
              <a:rPr sz="800" b="0" i="0">
                <a:solidFill>
                  <a:srgbClr val="343434"/>
                </a:solidFill>
                <a:latin typeface="Georgia"/>
              </a:rPr>
              <a:t>True Positive (TP)
55.0% · Threats Isolated</a:t>
            </a:r>
          </a:p>
        </p:txBody>
      </p:sp>
      <p:sp>
        <p:nvSpPr>
          <p:cNvPr id="53" name="Rectangle 52"/>
          <p:cNvSpPr/>
          <p:nvPr/>
        </p:nvSpPr>
        <p:spPr>
          <a:xfrm>
            <a:off x="685800" y="5468112"/>
            <a:ext cx="5074920" cy="548640"/>
          </a:xfrm>
          <a:prstGeom prst="rect">
            <a:avLst/>
          </a:prstGeom>
          <a:solidFill>
            <a:srgbClr val="ECE9E0"/>
          </a:solidFill>
          <a:ln w="635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9808" y="5522976"/>
            <a:ext cx="4937760" cy="457200"/>
          </a:xfrm>
          <a:prstGeom prst="rect">
            <a:avLst/>
          </a:prstGeom>
          <a:noFill/>
        </p:spPr>
        <p:txBody>
          <a:bodyPr wrap="square" lIns="0" tIns="0" rIns="0" bIns="0">
            <a:spAutoFit/>
          </a:bodyPr>
          <a:lstStyle/>
          <a:p>
            <a:pPr>
              <a:spcAft>
                <a:spcPts val="400"/>
              </a:spcAft>
            </a:pPr>
            <a:r>
              <a:rPr sz="900" b="1" i="0">
                <a:solidFill>
                  <a:srgbClr val="2C3461"/>
                </a:solidFill>
                <a:latin typeface="Georgia"/>
              </a:rPr>
              <a:t>Accuracy: 100.0%  |  Precision: 1.0000  |  Recall: 1.0000  |  ROC-AUC: 1.0000
</a:t>
            </a:r>
          </a:p>
          <a:p>
            <a:pPr>
              <a:spcAft>
                <a:spcPts val="400"/>
              </a:spcAft>
            </a:pPr>
            <a:r>
              <a:rPr sz="800" b="0" i="1">
                <a:solidFill>
                  <a:srgbClr val="6E748A"/>
                </a:solidFill>
                <a:latin typeface="Georgia"/>
              </a:rPr>
              <a:t>Statistical Significance: p &lt; 0.001 against baseline rule scanners (Checkov F1: 0.68)</a:t>
            </a:r>
          </a:p>
        </p:txBody>
      </p:sp>
      <p:sp>
        <p:nvSpPr>
          <p:cNvPr id="55" name="Rounded Rectangle 54"/>
          <p:cNvSpPr/>
          <p:nvPr/>
        </p:nvSpPr>
        <p:spPr>
          <a:xfrm>
            <a:off x="6199632" y="2852928"/>
            <a:ext cx="5440680" cy="329184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199632" y="2852928"/>
            <a:ext cx="5440680" cy="329184"/>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36792" y="2889504"/>
            <a:ext cx="5120640" cy="256032"/>
          </a:xfrm>
          <a:prstGeom prst="rect">
            <a:avLst/>
          </a:prstGeom>
          <a:noFill/>
        </p:spPr>
        <p:txBody>
          <a:bodyPr wrap="square" lIns="0" tIns="0" rIns="0" bIns="0">
            <a:spAutoFit/>
          </a:bodyPr>
          <a:lstStyle/>
          <a:p>
            <a:pPr algn="l"/>
            <a:r>
              <a:rPr sz="1100" b="1" i="0">
                <a:solidFill>
                  <a:srgbClr val="FFFFFF"/>
                </a:solidFill>
                <a:latin typeface="Georgia"/>
              </a:rPr>
              <a:t>Multi-Domain Security Graph Node Classification</a:t>
            </a:r>
          </a:p>
        </p:txBody>
      </p:sp>
      <p:sp>
        <p:nvSpPr>
          <p:cNvPr id="58" name="Rounded Rectangle 57"/>
          <p:cNvSpPr/>
          <p:nvPr/>
        </p:nvSpPr>
        <p:spPr>
          <a:xfrm>
            <a:off x="6355080" y="3273552"/>
            <a:ext cx="5138928" cy="859536"/>
          </a:xfrm>
          <a:prstGeom prst="roundRect">
            <a:avLst/>
          </a:prstGeom>
          <a:solidFill>
            <a:srgbClr val="ECE9E0"/>
          </a:solidFill>
          <a:ln w="762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355080" y="3273552"/>
            <a:ext cx="54864" cy="859536"/>
          </a:xfrm>
          <a:prstGeom prst="rect">
            <a:avLst/>
          </a:prstGeom>
          <a:solidFill>
            <a:srgbClr val="2E7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92240" y="3328416"/>
            <a:ext cx="3840480" cy="201168"/>
          </a:xfrm>
          <a:prstGeom prst="rect">
            <a:avLst/>
          </a:prstGeom>
          <a:noFill/>
        </p:spPr>
        <p:txBody>
          <a:bodyPr wrap="square" lIns="0" tIns="0" rIns="0" bIns="0">
            <a:spAutoFit/>
          </a:bodyPr>
          <a:lstStyle/>
          <a:p>
            <a:pPr algn="l"/>
            <a:r>
              <a:rPr sz="1000" b="1" i="0">
                <a:solidFill>
                  <a:srgbClr val="2C3461"/>
                </a:solidFill>
                <a:latin typeface="Georgia"/>
              </a:rPr>
              <a:t>Kubernetes Pod Workloads</a:t>
            </a:r>
          </a:p>
        </p:txBody>
      </p:sp>
      <p:sp>
        <p:nvSpPr>
          <p:cNvPr id="61" name="TextBox 60"/>
          <p:cNvSpPr txBox="1"/>
          <p:nvPr/>
        </p:nvSpPr>
        <p:spPr>
          <a:xfrm>
            <a:off x="10424160" y="3328416"/>
            <a:ext cx="914400" cy="201168"/>
          </a:xfrm>
          <a:prstGeom prst="rect">
            <a:avLst/>
          </a:prstGeom>
          <a:noFill/>
        </p:spPr>
        <p:txBody>
          <a:bodyPr wrap="square" lIns="0" tIns="0" rIns="0" bIns="0">
            <a:spAutoFit/>
          </a:bodyPr>
          <a:lstStyle/>
          <a:p>
            <a:pPr algn="r"/>
            <a:r>
              <a:rPr sz="1000" b="0" i="0">
                <a:solidFill>
                  <a:srgbClr val="2E7D52"/>
                </a:solidFill>
                <a:latin typeface="Candal"/>
              </a:rPr>
              <a:t>F1: 100%</a:t>
            </a:r>
          </a:p>
        </p:txBody>
      </p:sp>
      <p:sp>
        <p:nvSpPr>
          <p:cNvPr id="62" name="TextBox 61"/>
          <p:cNvSpPr txBox="1"/>
          <p:nvPr/>
        </p:nvSpPr>
        <p:spPr>
          <a:xfrm>
            <a:off x="6492240" y="3529584"/>
            <a:ext cx="4846320" cy="164592"/>
          </a:xfrm>
          <a:prstGeom prst="rect">
            <a:avLst/>
          </a:prstGeom>
          <a:noFill/>
        </p:spPr>
        <p:txBody>
          <a:bodyPr wrap="square" lIns="0" tIns="0" rIns="0" bIns="0">
            <a:spAutoFit/>
          </a:bodyPr>
          <a:lstStyle/>
          <a:p>
            <a:pPr algn="l"/>
            <a:r>
              <a:rPr sz="819" b="0" i="1">
                <a:solidFill>
                  <a:srgbClr val="6E748A"/>
                </a:solidFill>
                <a:latin typeface="Georgia"/>
              </a:rPr>
              <a:t>120 Test Nodes (47 TN / 73 TP)</a:t>
            </a:r>
          </a:p>
        </p:txBody>
      </p:sp>
      <p:sp>
        <p:nvSpPr>
          <p:cNvPr id="63" name="TextBox 62"/>
          <p:cNvSpPr txBox="1"/>
          <p:nvPr/>
        </p:nvSpPr>
        <p:spPr>
          <a:xfrm>
            <a:off x="6492240" y="3712464"/>
            <a:ext cx="4846320" cy="365760"/>
          </a:xfrm>
          <a:prstGeom prst="rect">
            <a:avLst/>
          </a:prstGeom>
          <a:noFill/>
        </p:spPr>
        <p:txBody>
          <a:bodyPr wrap="square" lIns="0" tIns="0" rIns="0" bIns="0">
            <a:spAutoFit/>
          </a:bodyPr>
          <a:lstStyle/>
          <a:p>
            <a:pPr algn="l"/>
            <a:r>
              <a:rPr sz="850" b="0" i="0">
                <a:solidFill>
                  <a:srgbClr val="343434"/>
                </a:solidFill>
                <a:latin typeface="Georgia"/>
              </a:rPr>
              <a:t>Detected container root escalations, hostNetwork bypasses, and unpinned image tags with zero misclassifications.</a:t>
            </a:r>
          </a:p>
        </p:txBody>
      </p:sp>
      <p:sp>
        <p:nvSpPr>
          <p:cNvPr id="64" name="Rounded Rectangle 63"/>
          <p:cNvSpPr/>
          <p:nvPr/>
        </p:nvSpPr>
        <p:spPr>
          <a:xfrm>
            <a:off x="6355080" y="4206240"/>
            <a:ext cx="5138928" cy="859536"/>
          </a:xfrm>
          <a:prstGeom prst="roundRect">
            <a:avLst/>
          </a:prstGeom>
          <a:solidFill>
            <a:srgbClr val="ECE9E0"/>
          </a:solidFill>
          <a:ln w="762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55080" y="4206240"/>
            <a:ext cx="54864" cy="859536"/>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92240" y="4261103"/>
            <a:ext cx="3840480" cy="201168"/>
          </a:xfrm>
          <a:prstGeom prst="rect">
            <a:avLst/>
          </a:prstGeom>
          <a:noFill/>
        </p:spPr>
        <p:txBody>
          <a:bodyPr wrap="square" lIns="0" tIns="0" rIns="0" bIns="0">
            <a:spAutoFit/>
          </a:bodyPr>
          <a:lstStyle/>
          <a:p>
            <a:pPr algn="l"/>
            <a:r>
              <a:rPr sz="1000" b="1" i="0">
                <a:solidFill>
                  <a:srgbClr val="2C3461"/>
                </a:solidFill>
                <a:latin typeface="Georgia"/>
              </a:rPr>
              <a:t>IAM Policies &amp; Cloud Storage</a:t>
            </a:r>
          </a:p>
        </p:txBody>
      </p:sp>
      <p:sp>
        <p:nvSpPr>
          <p:cNvPr id="67" name="TextBox 66"/>
          <p:cNvSpPr txBox="1"/>
          <p:nvPr/>
        </p:nvSpPr>
        <p:spPr>
          <a:xfrm>
            <a:off x="10424160" y="4261103"/>
            <a:ext cx="914400" cy="201168"/>
          </a:xfrm>
          <a:prstGeom prst="rect">
            <a:avLst/>
          </a:prstGeom>
          <a:noFill/>
        </p:spPr>
        <p:txBody>
          <a:bodyPr wrap="square" lIns="0" tIns="0" rIns="0" bIns="0">
            <a:spAutoFit/>
          </a:bodyPr>
          <a:lstStyle/>
          <a:p>
            <a:pPr algn="r"/>
            <a:r>
              <a:rPr sz="1000" b="0" i="0">
                <a:solidFill>
                  <a:srgbClr val="2C3461"/>
                </a:solidFill>
                <a:latin typeface="Candal"/>
              </a:rPr>
              <a:t>F1: 100%</a:t>
            </a:r>
          </a:p>
        </p:txBody>
      </p:sp>
      <p:sp>
        <p:nvSpPr>
          <p:cNvPr id="68" name="TextBox 67"/>
          <p:cNvSpPr txBox="1"/>
          <p:nvPr/>
        </p:nvSpPr>
        <p:spPr>
          <a:xfrm>
            <a:off x="6492240" y="4462272"/>
            <a:ext cx="4846320" cy="164592"/>
          </a:xfrm>
          <a:prstGeom prst="rect">
            <a:avLst/>
          </a:prstGeom>
          <a:noFill/>
        </p:spPr>
        <p:txBody>
          <a:bodyPr wrap="square" lIns="0" tIns="0" rIns="0" bIns="0">
            <a:spAutoFit/>
          </a:bodyPr>
          <a:lstStyle/>
          <a:p>
            <a:pPr algn="l"/>
            <a:r>
              <a:rPr sz="819" b="0" i="1">
                <a:solidFill>
                  <a:srgbClr val="6E748A"/>
                </a:solidFill>
                <a:latin typeface="Georgia"/>
              </a:rPr>
              <a:t>60 Test Nodes (33 TN / 27 TP)</a:t>
            </a:r>
          </a:p>
        </p:txBody>
      </p:sp>
      <p:sp>
        <p:nvSpPr>
          <p:cNvPr id="69" name="TextBox 68"/>
          <p:cNvSpPr txBox="1"/>
          <p:nvPr/>
        </p:nvSpPr>
        <p:spPr>
          <a:xfrm>
            <a:off x="6492240" y="4645152"/>
            <a:ext cx="4846320" cy="365760"/>
          </a:xfrm>
          <a:prstGeom prst="rect">
            <a:avLst/>
          </a:prstGeom>
          <a:noFill/>
        </p:spPr>
        <p:txBody>
          <a:bodyPr wrap="square" lIns="0" tIns="0" rIns="0" bIns="0">
            <a:spAutoFit/>
          </a:bodyPr>
          <a:lstStyle/>
          <a:p>
            <a:pPr algn="l"/>
            <a:r>
              <a:rPr sz="850" b="0" i="0">
                <a:solidFill>
                  <a:srgbClr val="343434"/>
                </a:solidFill>
                <a:latin typeface="Georgia"/>
              </a:rPr>
              <a:t>Uncovered wildcard permissions (Action: *), cross-account trust leaks, and public unencrypted S3 buckets.</a:t>
            </a:r>
          </a:p>
        </p:txBody>
      </p:sp>
      <p:sp>
        <p:nvSpPr>
          <p:cNvPr id="70" name="Rounded Rectangle 69"/>
          <p:cNvSpPr/>
          <p:nvPr/>
        </p:nvSpPr>
        <p:spPr>
          <a:xfrm>
            <a:off x="6355080" y="5138927"/>
            <a:ext cx="5138928" cy="859536"/>
          </a:xfrm>
          <a:prstGeom prst="roundRect">
            <a:avLst/>
          </a:prstGeom>
          <a:solidFill>
            <a:srgbClr val="ECE9E0"/>
          </a:solidFill>
          <a:ln w="762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355080" y="5138927"/>
            <a:ext cx="54864" cy="859536"/>
          </a:xfrm>
          <a:prstGeom prst="rect">
            <a:avLst/>
          </a:prstGeom>
          <a:solidFill>
            <a:srgbClr val="C49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92240" y="5193791"/>
            <a:ext cx="3840480" cy="201168"/>
          </a:xfrm>
          <a:prstGeom prst="rect">
            <a:avLst/>
          </a:prstGeom>
          <a:noFill/>
        </p:spPr>
        <p:txBody>
          <a:bodyPr wrap="square" lIns="0" tIns="0" rIns="0" bIns="0">
            <a:spAutoFit/>
          </a:bodyPr>
          <a:lstStyle/>
          <a:p>
            <a:pPr algn="l"/>
            <a:r>
              <a:rPr sz="1000" b="1" i="0">
                <a:solidFill>
                  <a:srgbClr val="2C3461"/>
                </a:solidFill>
                <a:latin typeface="Georgia"/>
              </a:rPr>
              <a:t>Serverless Lambda Functions (SAM)</a:t>
            </a:r>
          </a:p>
        </p:txBody>
      </p:sp>
      <p:sp>
        <p:nvSpPr>
          <p:cNvPr id="73" name="TextBox 72"/>
          <p:cNvSpPr txBox="1"/>
          <p:nvPr/>
        </p:nvSpPr>
        <p:spPr>
          <a:xfrm>
            <a:off x="10424160" y="5193791"/>
            <a:ext cx="914400" cy="201168"/>
          </a:xfrm>
          <a:prstGeom prst="rect">
            <a:avLst/>
          </a:prstGeom>
          <a:noFill/>
        </p:spPr>
        <p:txBody>
          <a:bodyPr wrap="square" lIns="0" tIns="0" rIns="0" bIns="0">
            <a:spAutoFit/>
          </a:bodyPr>
          <a:lstStyle/>
          <a:p>
            <a:pPr algn="r"/>
            <a:r>
              <a:rPr sz="1000" b="0" i="0">
                <a:solidFill>
                  <a:srgbClr val="C49A22"/>
                </a:solidFill>
                <a:latin typeface="Candal"/>
              </a:rPr>
              <a:t>F1: 100%</a:t>
            </a:r>
          </a:p>
        </p:txBody>
      </p:sp>
      <p:sp>
        <p:nvSpPr>
          <p:cNvPr id="74" name="TextBox 73"/>
          <p:cNvSpPr txBox="1"/>
          <p:nvPr/>
        </p:nvSpPr>
        <p:spPr>
          <a:xfrm>
            <a:off x="6492240" y="5394959"/>
            <a:ext cx="4846320" cy="164592"/>
          </a:xfrm>
          <a:prstGeom prst="rect">
            <a:avLst/>
          </a:prstGeom>
          <a:noFill/>
        </p:spPr>
        <p:txBody>
          <a:bodyPr wrap="square" lIns="0" tIns="0" rIns="0" bIns="0">
            <a:spAutoFit/>
          </a:bodyPr>
          <a:lstStyle/>
          <a:p>
            <a:pPr algn="l"/>
            <a:r>
              <a:rPr sz="819" b="0" i="1">
                <a:solidFill>
                  <a:srgbClr val="6E748A"/>
                </a:solidFill>
                <a:latin typeface="Georgia"/>
              </a:rPr>
              <a:t>40 Test Nodes (21 TN / 19 TP)</a:t>
            </a:r>
          </a:p>
        </p:txBody>
      </p:sp>
      <p:sp>
        <p:nvSpPr>
          <p:cNvPr id="75" name="TextBox 74"/>
          <p:cNvSpPr txBox="1"/>
          <p:nvPr/>
        </p:nvSpPr>
        <p:spPr>
          <a:xfrm>
            <a:off x="6492240" y="5577840"/>
            <a:ext cx="4846320" cy="365760"/>
          </a:xfrm>
          <a:prstGeom prst="rect">
            <a:avLst/>
          </a:prstGeom>
          <a:noFill/>
        </p:spPr>
        <p:txBody>
          <a:bodyPr wrap="square" lIns="0" tIns="0" rIns="0" bIns="0">
            <a:spAutoFit/>
          </a:bodyPr>
          <a:lstStyle/>
          <a:p>
            <a:pPr algn="l"/>
            <a:r>
              <a:rPr sz="850" b="0" i="0">
                <a:solidFill>
                  <a:srgbClr val="343434"/>
                </a:solidFill>
                <a:latin typeface="Georgia"/>
              </a:rPr>
              <a:t>Identified hardcoded secrets in environment variables and unauthenticated API Gateway endpoints.</a:t>
            </a:r>
          </a:p>
        </p:txBody>
      </p:sp>
      <p:sp>
        <p:nvSpPr>
          <p:cNvPr id="76" name="Rounded Rectangle 75"/>
          <p:cNvSpPr/>
          <p:nvPr/>
        </p:nvSpPr>
        <p:spPr>
          <a:xfrm>
            <a:off x="548640" y="5376672"/>
            <a:ext cx="5349240" cy="329184"/>
          </a:xfrm>
          <a:prstGeom prst="roundRect">
            <a:avLst/>
          </a:prstGeom>
          <a:solidFill>
            <a:srgbClr val="E8F5EA"/>
          </a:solidFill>
          <a:ln w="12700">
            <a:solidFill>
              <a:srgbClr val="2E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85800" y="5422392"/>
            <a:ext cx="5120640" cy="237744"/>
          </a:xfrm>
          <a:prstGeom prst="rect">
            <a:avLst/>
          </a:prstGeom>
          <a:noFill/>
        </p:spPr>
        <p:txBody>
          <a:bodyPr wrap="square" lIns="0" tIns="0" rIns="0" bIns="0">
            <a:spAutoFit/>
          </a:bodyPr>
          <a:lstStyle/>
          <a:p>
            <a:pPr algn="l"/>
            <a:r>
              <a:rPr sz="819" b="0" i="1">
                <a:solidFill>
                  <a:srgbClr val="2E7D52"/>
                </a:solidFill>
                <a:latin typeface="Georgia"/>
              </a:rPr>
              <a:t>Results independently verified by re-running scripts/evaluate_rf.py (fresh seed=42 run, 2026-09-18)</a:t>
            </a:r>
          </a:p>
        </p:txBody>
      </p:sp>
      <p:sp>
        <p:nvSpPr>
          <p:cNvPr id="78" name="Rounded Rectangle 77"/>
          <p:cNvSpPr/>
          <p:nvPr/>
        </p:nvSpPr>
        <p:spPr>
          <a:xfrm>
            <a:off x="548640" y="5779008"/>
            <a:ext cx="11091672" cy="347472"/>
          </a:xfrm>
          <a:prstGeom prst="round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85800" y="5815584"/>
            <a:ext cx="10789920" cy="256032"/>
          </a:xfrm>
          <a:prstGeom prst="rect">
            <a:avLst/>
          </a:prstGeom>
          <a:noFill/>
        </p:spPr>
        <p:txBody>
          <a:bodyPr wrap="square" lIns="0" tIns="0" rIns="0" bIns="0">
            <a:spAutoFit/>
          </a:bodyPr>
          <a:lstStyle/>
          <a:p>
            <a:pPr algn="ctr"/>
            <a:r>
              <a:rPr sz="950" b="1" i="0">
                <a:solidFill>
                  <a:srgbClr val="FFFFFF"/>
                </a:solidFill>
                <a:latin typeface="Georgia"/>
              </a:rPr>
              <a:t>Security Impact: Zero FN ensures no threat breaches production; Zero FP eliminates alert fatigue.</a:t>
            </a:r>
          </a:p>
        </p:txBody>
      </p:sp>
      <p:sp>
        <p:nvSpPr>
          <p:cNvPr id="80" name="Rounded Rectangle 79"/>
          <p:cNvSpPr/>
          <p:nvPr/>
        </p:nvSpPr>
        <p:spPr>
          <a:xfrm>
            <a:off x="548640" y="6199632"/>
            <a:ext cx="11091672" cy="402336"/>
          </a:xfrm>
          <a:prstGeom prst="roundRect">
            <a:avLst/>
          </a:prstGeom>
          <a:solidFill>
            <a:srgbClr val="FDF6E3"/>
          </a:solidFill>
          <a:ln w="15240">
            <a:solidFill>
              <a:srgbClr val="C49A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13232" y="6236208"/>
            <a:ext cx="1920240" cy="256032"/>
          </a:xfrm>
          <a:prstGeom prst="rect">
            <a:avLst/>
          </a:prstGeom>
          <a:noFill/>
        </p:spPr>
        <p:txBody>
          <a:bodyPr wrap="square" lIns="0" tIns="0" rIns="0" bIns="0">
            <a:spAutoFit/>
          </a:bodyPr>
          <a:lstStyle/>
          <a:p>
            <a:pPr algn="l"/>
            <a:r>
              <a:rPr sz="850" b="1" i="0">
                <a:solidFill>
                  <a:srgbClr val="C49A22"/>
                </a:solidFill>
                <a:latin typeface="Georgia"/>
              </a:rPr>
              <a:t>Note on 100% Accuracy:</a:t>
            </a:r>
          </a:p>
        </p:txBody>
      </p:sp>
      <p:sp>
        <p:nvSpPr>
          <p:cNvPr id="82" name="TextBox 81"/>
          <p:cNvSpPr txBox="1"/>
          <p:nvPr/>
        </p:nvSpPr>
        <p:spPr>
          <a:xfrm>
            <a:off x="2542032" y="6236208"/>
            <a:ext cx="8961120" cy="329184"/>
          </a:xfrm>
          <a:prstGeom prst="rect">
            <a:avLst/>
          </a:prstGeom>
          <a:noFill/>
        </p:spPr>
        <p:txBody>
          <a:bodyPr wrap="square" lIns="0" tIns="0" rIns="0" bIns="0">
            <a:spAutoFit/>
          </a:bodyPr>
          <a:lstStyle/>
          <a:p>
            <a:pPr algn="l"/>
            <a:r>
              <a:rPr sz="819" b="0" i="1">
                <a:solidFill>
                  <a:srgbClr val="343434"/>
                </a:solidFill>
                <a:latin typeface="Georgia"/>
              </a:rPr>
              <a:t>Results are achieved on a synthetic benchmark where misconfigurations were programmatically injected. The model correctly learns the injected security flag patterns. Real-world generalization on diverse production manifests is a stated limitation (Slide 7) and the primary target of the 2-week improvement plan (Slide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Oval 1"/>
          <p:cNvSpPr/>
          <p:nvPr/>
        </p:nvSpPr>
        <p:spPr>
          <a:xfrm>
            <a:off x="10149840" y="-36576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81360" y="-292608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474720" y="54864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0" y="621792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07040" y="6035040"/>
            <a:ext cx="2194560" cy="219456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65760" y="-1005840"/>
            <a:ext cx="1645920" cy="164592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47688"/>
            <a:ext cx="12191695" cy="210312"/>
          </a:xfrm>
          <a:prstGeom prst="rect">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65976"/>
            <a:ext cx="11064240" cy="182880"/>
          </a:xfrm>
          <a:prstGeom prst="rect">
            <a:avLst/>
          </a:prstGeom>
          <a:noFill/>
        </p:spPr>
        <p:txBody>
          <a:bodyPr wrap="square" lIns="0" tIns="0" rIns="0" bIns="0">
            <a:spAutoFit/>
          </a:bodyPr>
          <a:lstStyle/>
          <a:p>
            <a:pPr algn="l"/>
            <a:r>
              <a:rPr sz="850" b="0" i="0">
                <a:solidFill>
                  <a:srgbClr val="6E748A"/>
                </a:solidFill>
                <a:latin typeface="Georgia"/>
              </a:rPr>
              <a:t>Cloud Misconfiguration Detection Using Machine Learning  |  Group 8  |  Slide 7 of 9</a:t>
            </a:r>
          </a:p>
        </p:txBody>
      </p:sp>
      <p:sp>
        <p:nvSpPr>
          <p:cNvPr id="10" name="TextBox 9"/>
          <p:cNvSpPr txBox="1"/>
          <p:nvPr/>
        </p:nvSpPr>
        <p:spPr>
          <a:xfrm>
            <a:off x="548640" y="256032"/>
            <a:ext cx="10058400" cy="228600"/>
          </a:xfrm>
          <a:prstGeom prst="rect">
            <a:avLst/>
          </a:prstGeom>
          <a:noFill/>
        </p:spPr>
        <p:txBody>
          <a:bodyPr wrap="square" lIns="0" tIns="0" rIns="0" bIns="0">
            <a:spAutoFit/>
          </a:bodyPr>
          <a:lstStyle/>
          <a:p>
            <a:pPr algn="l"/>
            <a:r>
              <a:rPr sz="900" b="1" i="0">
                <a:solidFill>
                  <a:srgbClr val="5C6898"/>
                </a:solidFill>
                <a:latin typeface="Georgia"/>
              </a:rPr>
              <a:t>SECTION V — LIMITATIONS</a:t>
            </a:r>
          </a:p>
        </p:txBody>
      </p:sp>
      <p:sp>
        <p:nvSpPr>
          <p:cNvPr id="11" name="TextBox 10"/>
          <p:cNvSpPr txBox="1"/>
          <p:nvPr/>
        </p:nvSpPr>
        <p:spPr>
          <a:xfrm>
            <a:off x="548640" y="502920"/>
            <a:ext cx="10515600" cy="777240"/>
          </a:xfrm>
          <a:prstGeom prst="rect">
            <a:avLst/>
          </a:prstGeom>
          <a:noFill/>
        </p:spPr>
        <p:txBody>
          <a:bodyPr wrap="square" lIns="0" tIns="0" rIns="0" bIns="0">
            <a:spAutoFit/>
          </a:bodyPr>
          <a:lstStyle/>
          <a:p>
            <a:pPr algn="l"/>
            <a:r>
              <a:rPr sz="2400" b="0" i="0">
                <a:solidFill>
                  <a:srgbClr val="2C3461"/>
                </a:solidFill>
                <a:latin typeface="Candal"/>
              </a:rPr>
              <a:t>Current Limitations &amp; Scientific Critical Analysis</a:t>
            </a:r>
          </a:p>
        </p:txBody>
      </p:sp>
      <p:sp>
        <p:nvSpPr>
          <p:cNvPr id="12" name="Rectangle 11"/>
          <p:cNvSpPr/>
          <p:nvPr/>
        </p:nvSpPr>
        <p:spPr>
          <a:xfrm>
            <a:off x="548640" y="1261872"/>
            <a:ext cx="1645920" cy="36576"/>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371600"/>
            <a:ext cx="10515600" cy="256032"/>
          </a:xfrm>
          <a:prstGeom prst="rect">
            <a:avLst/>
          </a:prstGeom>
          <a:noFill/>
        </p:spPr>
        <p:txBody>
          <a:bodyPr wrap="square" lIns="0" tIns="0" rIns="0" bIns="0">
            <a:spAutoFit/>
          </a:bodyPr>
          <a:lstStyle/>
          <a:p>
            <a:pPr algn="l"/>
            <a:r>
              <a:rPr sz="1050" b="0" i="1">
                <a:solidFill>
                  <a:srgbClr val="6E748A"/>
                </a:solidFill>
                <a:latin typeface="Georgia"/>
              </a:rPr>
              <a:t>Transparent assessment of current architectural boundaries and empirical constraints.</a:t>
            </a:r>
          </a:p>
        </p:txBody>
      </p:sp>
      <p:sp>
        <p:nvSpPr>
          <p:cNvPr id="14" name="Rounded Rectangle 13"/>
          <p:cNvSpPr/>
          <p:nvPr/>
        </p:nvSpPr>
        <p:spPr>
          <a:xfrm>
            <a:off x="548640" y="1737360"/>
            <a:ext cx="11091672" cy="1078992"/>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1737360"/>
            <a:ext cx="73152" cy="1078992"/>
          </a:xfrm>
          <a:prstGeom prst="rect">
            <a:avLst/>
          </a:prstGeom>
          <a:solidFill>
            <a:srgbClr val="A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1847088"/>
            <a:ext cx="1005840" cy="256032"/>
          </a:xfrm>
          <a:prstGeom prst="rect">
            <a:avLst/>
          </a:prstGeom>
          <a:solidFill>
            <a:srgbClr val="A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1865376"/>
            <a:ext cx="969264" cy="219456"/>
          </a:xfrm>
          <a:prstGeom prst="rect">
            <a:avLst/>
          </a:prstGeom>
          <a:noFill/>
        </p:spPr>
        <p:txBody>
          <a:bodyPr wrap="square" lIns="0" tIns="0" rIns="0" bIns="0">
            <a:spAutoFit/>
          </a:bodyPr>
          <a:lstStyle/>
          <a:p>
            <a:pPr algn="ctr"/>
            <a:r>
              <a:rPr sz="850" b="0" i="0">
                <a:solidFill>
                  <a:srgbClr val="FFFFFF"/>
                </a:solidFill>
                <a:latin typeface="Candal"/>
              </a:rPr>
              <a:t>Limitation 1</a:t>
            </a:r>
          </a:p>
        </p:txBody>
      </p:sp>
      <p:sp>
        <p:nvSpPr>
          <p:cNvPr id="18" name="TextBox 17"/>
          <p:cNvSpPr txBox="1"/>
          <p:nvPr/>
        </p:nvSpPr>
        <p:spPr>
          <a:xfrm>
            <a:off x="1847088" y="1828800"/>
            <a:ext cx="9509760" cy="292608"/>
          </a:xfrm>
          <a:prstGeom prst="rect">
            <a:avLst/>
          </a:prstGeom>
          <a:noFill/>
        </p:spPr>
        <p:txBody>
          <a:bodyPr wrap="square" lIns="0" tIns="0" rIns="0" bIns="0">
            <a:spAutoFit/>
          </a:bodyPr>
          <a:lstStyle/>
          <a:p>
            <a:pPr algn="l"/>
            <a:r>
              <a:rPr sz="1150" b="1" i="0">
                <a:solidFill>
                  <a:srgbClr val="2C3461"/>
                </a:solidFill>
                <a:latin typeface="Georgia"/>
              </a:rPr>
              <a:t>Synthetic Benchmark vs In-the-Wild Production Diversity</a:t>
            </a:r>
          </a:p>
        </p:txBody>
      </p:sp>
      <p:sp>
        <p:nvSpPr>
          <p:cNvPr id="19" name="TextBox 18"/>
          <p:cNvSpPr txBox="1"/>
          <p:nvPr/>
        </p:nvSpPr>
        <p:spPr>
          <a:xfrm>
            <a:off x="1847088" y="2139696"/>
            <a:ext cx="9509760" cy="603504"/>
          </a:xfrm>
          <a:prstGeom prst="rect">
            <a:avLst/>
          </a:prstGeom>
          <a:noFill/>
        </p:spPr>
        <p:txBody>
          <a:bodyPr wrap="square" lIns="0" tIns="0" rIns="0" bIns="0">
            <a:spAutoFit/>
          </a:bodyPr>
          <a:lstStyle/>
          <a:p>
            <a:pPr algn="l"/>
            <a:r>
              <a:rPr sz="950" b="0" i="0">
                <a:solidFill>
                  <a:srgbClr val="343434"/>
                </a:solidFill>
                <a:latin typeface="Georgia"/>
              </a:rPr>
              <a:t>While our benchmark features 1,100 varied manifests with realistic misconfigurations, production enterprise codebases contain highly esoteric Helm templates, legacy Kube v1.12 syntax, and custom third-party Custom Resource Definitions (CRDs) that require broader wild scraping.</a:t>
            </a:r>
          </a:p>
        </p:txBody>
      </p:sp>
      <p:sp>
        <p:nvSpPr>
          <p:cNvPr id="20" name="Rounded Rectangle 19"/>
          <p:cNvSpPr/>
          <p:nvPr/>
        </p:nvSpPr>
        <p:spPr>
          <a:xfrm>
            <a:off x="548640" y="2926080"/>
            <a:ext cx="11091672" cy="1078992"/>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2926080"/>
            <a:ext cx="73152" cy="1078992"/>
          </a:xfrm>
          <a:prstGeom prst="rect">
            <a:avLst/>
          </a:prstGeom>
          <a:solidFill>
            <a:srgbClr val="C49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13232" y="3035808"/>
            <a:ext cx="1005840" cy="256032"/>
          </a:xfrm>
          <a:prstGeom prst="rect">
            <a:avLst/>
          </a:prstGeom>
          <a:solidFill>
            <a:srgbClr val="C49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054096"/>
            <a:ext cx="969264" cy="219456"/>
          </a:xfrm>
          <a:prstGeom prst="rect">
            <a:avLst/>
          </a:prstGeom>
          <a:noFill/>
        </p:spPr>
        <p:txBody>
          <a:bodyPr wrap="square" lIns="0" tIns="0" rIns="0" bIns="0">
            <a:spAutoFit/>
          </a:bodyPr>
          <a:lstStyle/>
          <a:p>
            <a:pPr algn="ctr"/>
            <a:r>
              <a:rPr sz="850" b="0" i="0">
                <a:solidFill>
                  <a:srgbClr val="FFFFFF"/>
                </a:solidFill>
                <a:latin typeface="Candal"/>
              </a:rPr>
              <a:t>Limitation 2</a:t>
            </a:r>
          </a:p>
        </p:txBody>
      </p:sp>
      <p:sp>
        <p:nvSpPr>
          <p:cNvPr id="24" name="TextBox 23"/>
          <p:cNvSpPr txBox="1"/>
          <p:nvPr/>
        </p:nvSpPr>
        <p:spPr>
          <a:xfrm>
            <a:off x="1847088" y="3017520"/>
            <a:ext cx="9509760" cy="292608"/>
          </a:xfrm>
          <a:prstGeom prst="rect">
            <a:avLst/>
          </a:prstGeom>
          <a:noFill/>
        </p:spPr>
        <p:txBody>
          <a:bodyPr wrap="square" lIns="0" tIns="0" rIns="0" bIns="0">
            <a:spAutoFit/>
          </a:bodyPr>
          <a:lstStyle/>
          <a:p>
            <a:pPr algn="l"/>
            <a:r>
              <a:rPr sz="1150" b="1" i="0">
                <a:solidFill>
                  <a:srgbClr val="2C3461"/>
                </a:solidFill>
                <a:latin typeface="Georgia"/>
              </a:rPr>
              <a:t>Graph Scalability on Massive Multi-Tenant Clusters</a:t>
            </a:r>
          </a:p>
        </p:txBody>
      </p:sp>
      <p:sp>
        <p:nvSpPr>
          <p:cNvPr id="25" name="TextBox 24"/>
          <p:cNvSpPr txBox="1"/>
          <p:nvPr/>
        </p:nvSpPr>
        <p:spPr>
          <a:xfrm>
            <a:off x="1847088" y="3328416"/>
            <a:ext cx="9509760" cy="603504"/>
          </a:xfrm>
          <a:prstGeom prst="rect">
            <a:avLst/>
          </a:prstGeom>
          <a:noFill/>
        </p:spPr>
        <p:txBody>
          <a:bodyPr wrap="square" lIns="0" tIns="0" rIns="0" bIns="0">
            <a:spAutoFit/>
          </a:bodyPr>
          <a:lstStyle/>
          <a:p>
            <a:pPr algn="l"/>
            <a:r>
              <a:rPr sz="950" b="0" i="0">
                <a:solidFill>
                  <a:srgbClr val="343434"/>
                </a:solidFill>
                <a:latin typeface="Georgia"/>
              </a:rPr>
              <a:t>The current PyTorch HeteroGNN constructs an in-memory graph for clusters. In hyper-scale corporate deployments spanning 50,000+ pods and cross-cloud accounts, in-memory graph aggregation faces memory bottlenecks and requires mini-batch GraphSAINT / ClusterGCN sampling.</a:t>
            </a:r>
          </a:p>
        </p:txBody>
      </p:sp>
      <p:sp>
        <p:nvSpPr>
          <p:cNvPr id="26" name="Rounded Rectangle 25"/>
          <p:cNvSpPr/>
          <p:nvPr/>
        </p:nvSpPr>
        <p:spPr>
          <a:xfrm>
            <a:off x="548640" y="4114800"/>
            <a:ext cx="11091672" cy="1078992"/>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114800"/>
            <a:ext cx="73152" cy="1078992"/>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 y="4224528"/>
            <a:ext cx="1005840" cy="256032"/>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242816"/>
            <a:ext cx="969264" cy="219456"/>
          </a:xfrm>
          <a:prstGeom prst="rect">
            <a:avLst/>
          </a:prstGeom>
          <a:noFill/>
        </p:spPr>
        <p:txBody>
          <a:bodyPr wrap="square" lIns="0" tIns="0" rIns="0" bIns="0">
            <a:spAutoFit/>
          </a:bodyPr>
          <a:lstStyle/>
          <a:p>
            <a:pPr algn="ctr"/>
            <a:r>
              <a:rPr sz="850" b="0" i="0">
                <a:solidFill>
                  <a:srgbClr val="FFFFFF"/>
                </a:solidFill>
                <a:latin typeface="Candal"/>
              </a:rPr>
              <a:t>Limitation 3</a:t>
            </a:r>
          </a:p>
        </p:txBody>
      </p:sp>
      <p:sp>
        <p:nvSpPr>
          <p:cNvPr id="30" name="TextBox 29"/>
          <p:cNvSpPr txBox="1"/>
          <p:nvPr/>
        </p:nvSpPr>
        <p:spPr>
          <a:xfrm>
            <a:off x="1847088" y="4206240"/>
            <a:ext cx="9509760" cy="292608"/>
          </a:xfrm>
          <a:prstGeom prst="rect">
            <a:avLst/>
          </a:prstGeom>
          <a:noFill/>
        </p:spPr>
        <p:txBody>
          <a:bodyPr wrap="square" lIns="0" tIns="0" rIns="0" bIns="0">
            <a:spAutoFit/>
          </a:bodyPr>
          <a:lstStyle/>
          <a:p>
            <a:pPr algn="l"/>
            <a:r>
              <a:rPr sz="1150" b="1" i="0">
                <a:solidFill>
                  <a:srgbClr val="2C3461"/>
                </a:solidFill>
                <a:latin typeface="Georgia"/>
              </a:rPr>
              <a:t>Inference Latency on LLM Escalation Fallback</a:t>
            </a:r>
          </a:p>
        </p:txBody>
      </p:sp>
      <p:sp>
        <p:nvSpPr>
          <p:cNvPr id="31" name="TextBox 30"/>
          <p:cNvSpPr txBox="1"/>
          <p:nvPr/>
        </p:nvSpPr>
        <p:spPr>
          <a:xfrm>
            <a:off x="1847088" y="4517136"/>
            <a:ext cx="9509760" cy="603504"/>
          </a:xfrm>
          <a:prstGeom prst="rect">
            <a:avLst/>
          </a:prstGeom>
          <a:noFill/>
        </p:spPr>
        <p:txBody>
          <a:bodyPr wrap="square" lIns="0" tIns="0" rIns="0" bIns="0">
            <a:spAutoFit/>
          </a:bodyPr>
          <a:lstStyle/>
          <a:p>
            <a:pPr algn="l"/>
            <a:r>
              <a:rPr sz="950" b="0" i="0">
                <a:solidFill>
                  <a:srgbClr val="343434"/>
                </a:solidFill>
                <a:latin typeface="Georgia"/>
              </a:rPr>
              <a:t>While the local Random Forest evaluates in &lt;2 ms, the ~10% ambiguous cases escalated to cloud LLM APIs (Gemini / GPT-4o) incur a 2–4 second round-trip latency. In high-frequency CI/CD git pre-commit hooks, this latency requires asynchronous background execution.</a:t>
            </a:r>
          </a:p>
        </p:txBody>
      </p:sp>
      <p:sp>
        <p:nvSpPr>
          <p:cNvPr id="32" name="Rounded Rectangle 31"/>
          <p:cNvSpPr/>
          <p:nvPr/>
        </p:nvSpPr>
        <p:spPr>
          <a:xfrm>
            <a:off x="548640" y="5303520"/>
            <a:ext cx="11091672" cy="1078992"/>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303520"/>
            <a:ext cx="73152" cy="1078992"/>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13232" y="5413248"/>
            <a:ext cx="1005840" cy="256032"/>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431536"/>
            <a:ext cx="969264" cy="219456"/>
          </a:xfrm>
          <a:prstGeom prst="rect">
            <a:avLst/>
          </a:prstGeom>
          <a:noFill/>
        </p:spPr>
        <p:txBody>
          <a:bodyPr wrap="square" lIns="0" tIns="0" rIns="0" bIns="0">
            <a:spAutoFit/>
          </a:bodyPr>
          <a:lstStyle/>
          <a:p>
            <a:pPr algn="ctr"/>
            <a:r>
              <a:rPr sz="850" b="0" i="0">
                <a:solidFill>
                  <a:srgbClr val="FFFFFF"/>
                </a:solidFill>
                <a:latin typeface="Candal"/>
              </a:rPr>
              <a:t>Limitation 4</a:t>
            </a:r>
          </a:p>
        </p:txBody>
      </p:sp>
      <p:sp>
        <p:nvSpPr>
          <p:cNvPr id="36" name="TextBox 35"/>
          <p:cNvSpPr txBox="1"/>
          <p:nvPr/>
        </p:nvSpPr>
        <p:spPr>
          <a:xfrm>
            <a:off x="1847088" y="5394960"/>
            <a:ext cx="9509760" cy="292608"/>
          </a:xfrm>
          <a:prstGeom prst="rect">
            <a:avLst/>
          </a:prstGeom>
          <a:noFill/>
        </p:spPr>
        <p:txBody>
          <a:bodyPr wrap="square" lIns="0" tIns="0" rIns="0" bIns="0">
            <a:spAutoFit/>
          </a:bodyPr>
          <a:lstStyle/>
          <a:p>
            <a:pPr algn="l"/>
            <a:r>
              <a:rPr sz="1150" b="1" i="0">
                <a:solidFill>
                  <a:srgbClr val="2C3461"/>
                </a:solidFill>
                <a:latin typeface="Georgia"/>
              </a:rPr>
              <a:t>Cross-Cloud Semantic Policy Drift (AWS vs GCP vs Azure)</a:t>
            </a:r>
          </a:p>
        </p:txBody>
      </p:sp>
      <p:sp>
        <p:nvSpPr>
          <p:cNvPr id="37" name="TextBox 36"/>
          <p:cNvSpPr txBox="1"/>
          <p:nvPr/>
        </p:nvSpPr>
        <p:spPr>
          <a:xfrm>
            <a:off x="1847088" y="5705856"/>
            <a:ext cx="9509760" cy="603504"/>
          </a:xfrm>
          <a:prstGeom prst="rect">
            <a:avLst/>
          </a:prstGeom>
          <a:noFill/>
        </p:spPr>
        <p:txBody>
          <a:bodyPr wrap="square" lIns="0" tIns="0" rIns="0" bIns="0">
            <a:spAutoFit/>
          </a:bodyPr>
          <a:lstStyle/>
          <a:p>
            <a:pPr algn="l"/>
            <a:r>
              <a:rPr sz="950" b="0" i="0">
                <a:solidFill>
                  <a:srgbClr val="343434"/>
                </a:solidFill>
                <a:latin typeface="Georgia"/>
              </a:rPr>
              <a:t>The 64-D feature vector currently implements explicit parsing for AWS IAM and CloudFormation policies. Azure RBAC JSON and GCP IAM bindings use differing condition syntax and role hierarchy semantics that currently require custom mapping.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Oval 1"/>
          <p:cNvSpPr/>
          <p:nvPr/>
        </p:nvSpPr>
        <p:spPr>
          <a:xfrm>
            <a:off x="10149840" y="-36576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81360" y="-292608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474720" y="54864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0" y="621792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07040" y="6035040"/>
            <a:ext cx="2194560" cy="219456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65760" y="-1005840"/>
            <a:ext cx="1645920" cy="164592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47688"/>
            <a:ext cx="12191695" cy="210312"/>
          </a:xfrm>
          <a:prstGeom prst="rect">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65976"/>
            <a:ext cx="11064240" cy="182880"/>
          </a:xfrm>
          <a:prstGeom prst="rect">
            <a:avLst/>
          </a:prstGeom>
          <a:noFill/>
        </p:spPr>
        <p:txBody>
          <a:bodyPr wrap="square" lIns="0" tIns="0" rIns="0" bIns="0">
            <a:spAutoFit/>
          </a:bodyPr>
          <a:lstStyle/>
          <a:p>
            <a:pPr algn="l"/>
            <a:r>
              <a:rPr sz="850" b="0" i="0">
                <a:solidFill>
                  <a:srgbClr val="6E748A"/>
                </a:solidFill>
                <a:latin typeface="Georgia"/>
              </a:rPr>
              <a:t>Cloud Misconfiguration Detection Using Machine Learning  |  Group 8  |  Slide 8 of 9</a:t>
            </a:r>
          </a:p>
        </p:txBody>
      </p:sp>
      <p:sp>
        <p:nvSpPr>
          <p:cNvPr id="10" name="TextBox 9"/>
          <p:cNvSpPr txBox="1"/>
          <p:nvPr/>
        </p:nvSpPr>
        <p:spPr>
          <a:xfrm>
            <a:off x="548640" y="256032"/>
            <a:ext cx="10058400" cy="228600"/>
          </a:xfrm>
          <a:prstGeom prst="rect">
            <a:avLst/>
          </a:prstGeom>
          <a:noFill/>
        </p:spPr>
        <p:txBody>
          <a:bodyPr wrap="square" lIns="0" tIns="0" rIns="0" bIns="0">
            <a:spAutoFit/>
          </a:bodyPr>
          <a:lstStyle/>
          <a:p>
            <a:pPr algn="l"/>
            <a:r>
              <a:rPr sz="900" b="1" i="0">
                <a:solidFill>
                  <a:srgbClr val="5C6898"/>
                </a:solidFill>
                <a:latin typeface="Georgia"/>
              </a:rPr>
              <a:t>SECTION VI — ACTION ROADMAP</a:t>
            </a:r>
          </a:p>
        </p:txBody>
      </p:sp>
      <p:sp>
        <p:nvSpPr>
          <p:cNvPr id="11" name="TextBox 10"/>
          <p:cNvSpPr txBox="1"/>
          <p:nvPr/>
        </p:nvSpPr>
        <p:spPr>
          <a:xfrm>
            <a:off x="548640" y="502920"/>
            <a:ext cx="10515600" cy="777240"/>
          </a:xfrm>
          <a:prstGeom prst="rect">
            <a:avLst/>
          </a:prstGeom>
          <a:noFill/>
        </p:spPr>
        <p:txBody>
          <a:bodyPr wrap="square" lIns="0" tIns="0" rIns="0" bIns="0">
            <a:spAutoFit/>
          </a:bodyPr>
          <a:lstStyle/>
          <a:p>
            <a:pPr algn="l"/>
            <a:r>
              <a:rPr sz="2400" b="0" i="0">
                <a:solidFill>
                  <a:srgbClr val="2C3461"/>
                </a:solidFill>
                <a:latin typeface="Candal"/>
              </a:rPr>
              <a:t>Scope of Improvements within 2 Weeks (14-Day Sprint)</a:t>
            </a:r>
          </a:p>
        </p:txBody>
      </p:sp>
      <p:sp>
        <p:nvSpPr>
          <p:cNvPr id="12" name="Rectangle 11"/>
          <p:cNvSpPr/>
          <p:nvPr/>
        </p:nvSpPr>
        <p:spPr>
          <a:xfrm>
            <a:off x="548640" y="1261872"/>
            <a:ext cx="1645920" cy="36576"/>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371600"/>
            <a:ext cx="10515600" cy="256032"/>
          </a:xfrm>
          <a:prstGeom prst="rect">
            <a:avLst/>
          </a:prstGeom>
          <a:noFill/>
        </p:spPr>
        <p:txBody>
          <a:bodyPr wrap="square" lIns="0" tIns="0" rIns="0" bIns="0">
            <a:spAutoFit/>
          </a:bodyPr>
          <a:lstStyle/>
          <a:p>
            <a:pPr algn="l"/>
            <a:r>
              <a:rPr sz="1050" b="0" i="1">
                <a:solidFill>
                  <a:srgbClr val="6E748A"/>
                </a:solidFill>
                <a:latin typeface="Georgia"/>
              </a:rPr>
              <a:t>Concrete, high-impact milestones achievable within the upcoming two-week development sprint.</a:t>
            </a:r>
          </a:p>
        </p:txBody>
      </p:sp>
      <p:sp>
        <p:nvSpPr>
          <p:cNvPr id="14" name="Rounded Rectangle 13"/>
          <p:cNvSpPr/>
          <p:nvPr/>
        </p:nvSpPr>
        <p:spPr>
          <a:xfrm>
            <a:off x="548640" y="1737360"/>
            <a:ext cx="5394960" cy="470916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1737360"/>
            <a:ext cx="5394960" cy="384048"/>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792224"/>
            <a:ext cx="5120640" cy="274320"/>
          </a:xfrm>
          <a:prstGeom prst="rect">
            <a:avLst/>
          </a:prstGeom>
          <a:noFill/>
        </p:spPr>
        <p:txBody>
          <a:bodyPr wrap="square" lIns="0" tIns="0" rIns="0" bIns="0">
            <a:spAutoFit/>
          </a:bodyPr>
          <a:lstStyle/>
          <a:p>
            <a:pPr algn="l"/>
            <a:r>
              <a:rPr sz="1100" b="0" i="0">
                <a:solidFill>
                  <a:srgbClr val="FFFFFF"/>
                </a:solidFill>
                <a:latin typeface="Candal"/>
              </a:rPr>
              <a:t>WEEK 1 (Days 1–7): Dataset Expansion &amp; NLP Upgrade</a:t>
            </a:r>
          </a:p>
        </p:txBody>
      </p:sp>
      <p:sp>
        <p:nvSpPr>
          <p:cNvPr id="17" name="TextBox 16"/>
          <p:cNvSpPr txBox="1"/>
          <p:nvPr/>
        </p:nvSpPr>
        <p:spPr>
          <a:xfrm>
            <a:off x="731520" y="2240280"/>
            <a:ext cx="5029200" cy="237744"/>
          </a:xfrm>
          <a:prstGeom prst="rect">
            <a:avLst/>
          </a:prstGeom>
          <a:noFill/>
        </p:spPr>
        <p:txBody>
          <a:bodyPr wrap="square" lIns="0" tIns="0" rIns="0" bIns="0">
            <a:spAutoFit/>
          </a:bodyPr>
          <a:lstStyle/>
          <a:p>
            <a:pPr algn="l"/>
            <a:r>
              <a:rPr sz="1050" b="1" i="0">
                <a:solidFill>
                  <a:srgbClr val="2C3461"/>
                </a:solidFill>
                <a:latin typeface="Georgia"/>
              </a:rPr>
              <a:t>• Day 1–3: Scrape 500+ Real GitHub Repositories</a:t>
            </a:r>
          </a:p>
        </p:txBody>
      </p:sp>
      <p:sp>
        <p:nvSpPr>
          <p:cNvPr id="18" name="TextBox 17"/>
          <p:cNvSpPr txBox="1"/>
          <p:nvPr/>
        </p:nvSpPr>
        <p:spPr>
          <a:xfrm>
            <a:off x="896112" y="2496312"/>
            <a:ext cx="4846320" cy="822960"/>
          </a:xfrm>
          <a:prstGeom prst="rect">
            <a:avLst/>
          </a:prstGeom>
          <a:noFill/>
        </p:spPr>
        <p:txBody>
          <a:bodyPr wrap="square" lIns="0" tIns="0" rIns="0" bIns="0">
            <a:spAutoFit/>
          </a:bodyPr>
          <a:lstStyle/>
          <a:p>
            <a:pPr algn="l"/>
            <a:r>
              <a:rPr sz="950" b="0" i="0">
                <a:solidFill>
                  <a:srgbClr val="343434"/>
                </a:solidFill>
                <a:latin typeface="Georgia"/>
              </a:rPr>
              <a:t>Add GitHub personal access token authentication to download_dataset.py to bypass rate limits. Crawl real production Kubernetes manifests from Bitnami charts, ArgoCD, and Prometheus test suites.</a:t>
            </a:r>
          </a:p>
        </p:txBody>
      </p:sp>
      <p:sp>
        <p:nvSpPr>
          <p:cNvPr id="19" name="TextBox 18"/>
          <p:cNvSpPr txBox="1"/>
          <p:nvPr/>
        </p:nvSpPr>
        <p:spPr>
          <a:xfrm>
            <a:off x="731520" y="3566160"/>
            <a:ext cx="5029200" cy="237744"/>
          </a:xfrm>
          <a:prstGeom prst="rect">
            <a:avLst/>
          </a:prstGeom>
          <a:noFill/>
        </p:spPr>
        <p:txBody>
          <a:bodyPr wrap="square" lIns="0" tIns="0" rIns="0" bIns="0">
            <a:spAutoFit/>
          </a:bodyPr>
          <a:lstStyle/>
          <a:p>
            <a:pPr algn="l"/>
            <a:r>
              <a:rPr sz="1050" b="1" i="0">
                <a:solidFill>
                  <a:srgbClr val="2C3461"/>
                </a:solidFill>
                <a:latin typeface="Georgia"/>
              </a:rPr>
              <a:t>• Day 4–5: Replace TF-IDF with DeBERTa Transformer</a:t>
            </a:r>
          </a:p>
        </p:txBody>
      </p:sp>
      <p:sp>
        <p:nvSpPr>
          <p:cNvPr id="20" name="TextBox 19"/>
          <p:cNvSpPr txBox="1"/>
          <p:nvPr/>
        </p:nvSpPr>
        <p:spPr>
          <a:xfrm>
            <a:off x="896112" y="3822192"/>
            <a:ext cx="4846320" cy="822960"/>
          </a:xfrm>
          <a:prstGeom prst="rect">
            <a:avLst/>
          </a:prstGeom>
          <a:noFill/>
        </p:spPr>
        <p:txBody>
          <a:bodyPr wrap="square" lIns="0" tIns="0" rIns="0" bIns="0">
            <a:spAutoFit/>
          </a:bodyPr>
          <a:lstStyle/>
          <a:p>
            <a:pPr algn="l"/>
            <a:r>
              <a:rPr sz="950" b="0" i="0">
                <a:solidFill>
                  <a:srgbClr val="343434"/>
                </a:solidFill>
                <a:latin typeface="Georgia"/>
              </a:rPr>
              <a:t>Fine-tune microsoft/deberta-v3-small on 500+ commit messages and PR comments to elevate NLP intent classification from 60.9% to &gt;90% macro accuracy.</a:t>
            </a:r>
          </a:p>
        </p:txBody>
      </p:sp>
      <p:sp>
        <p:nvSpPr>
          <p:cNvPr id="21" name="TextBox 20"/>
          <p:cNvSpPr txBox="1"/>
          <p:nvPr/>
        </p:nvSpPr>
        <p:spPr>
          <a:xfrm>
            <a:off x="731520" y="4892040"/>
            <a:ext cx="5029200" cy="237744"/>
          </a:xfrm>
          <a:prstGeom prst="rect">
            <a:avLst/>
          </a:prstGeom>
          <a:noFill/>
        </p:spPr>
        <p:txBody>
          <a:bodyPr wrap="square" lIns="0" tIns="0" rIns="0" bIns="0">
            <a:spAutoFit/>
          </a:bodyPr>
          <a:lstStyle/>
          <a:p>
            <a:pPr algn="l"/>
            <a:r>
              <a:rPr sz="1050" b="1" i="0">
                <a:solidFill>
                  <a:srgbClr val="2C3461"/>
                </a:solidFill>
                <a:latin typeface="Georgia"/>
              </a:rPr>
              <a:t>• Day 6–7: Azure &amp; GCP IAM Policy Extractor Extension</a:t>
            </a:r>
          </a:p>
        </p:txBody>
      </p:sp>
      <p:sp>
        <p:nvSpPr>
          <p:cNvPr id="22" name="TextBox 21"/>
          <p:cNvSpPr txBox="1"/>
          <p:nvPr/>
        </p:nvSpPr>
        <p:spPr>
          <a:xfrm>
            <a:off x="896112" y="5148072"/>
            <a:ext cx="4846320" cy="822960"/>
          </a:xfrm>
          <a:prstGeom prst="rect">
            <a:avLst/>
          </a:prstGeom>
          <a:noFill/>
        </p:spPr>
        <p:txBody>
          <a:bodyPr wrap="square" lIns="0" tIns="0" rIns="0" bIns="0">
            <a:spAutoFit/>
          </a:bodyPr>
          <a:lstStyle/>
          <a:p>
            <a:pPr algn="l"/>
            <a:r>
              <a:rPr sz="950" b="0" i="0">
                <a:solidFill>
                  <a:srgbClr val="343434"/>
                </a:solidFill>
                <a:latin typeface="Georgia"/>
              </a:rPr>
              <a:t>Extend ast_extractor.py with Azure Resource Manager (ARM) and GCP Terraform policy parsers, expanding multi-domain coverage across all big-three cloud providers.</a:t>
            </a:r>
          </a:p>
        </p:txBody>
      </p:sp>
      <p:sp>
        <p:nvSpPr>
          <p:cNvPr id="23" name="Rounded Rectangle 22"/>
          <p:cNvSpPr/>
          <p:nvPr/>
        </p:nvSpPr>
        <p:spPr>
          <a:xfrm>
            <a:off x="6245352" y="1737360"/>
            <a:ext cx="5394960" cy="470916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5352" y="1737360"/>
            <a:ext cx="5394960" cy="384048"/>
          </a:xfrm>
          <a:prstGeom prst="rect">
            <a:avLst/>
          </a:prstGeom>
          <a:solidFill>
            <a:srgbClr val="2E7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82512" y="1792224"/>
            <a:ext cx="5120640" cy="274320"/>
          </a:xfrm>
          <a:prstGeom prst="rect">
            <a:avLst/>
          </a:prstGeom>
          <a:noFill/>
        </p:spPr>
        <p:txBody>
          <a:bodyPr wrap="square" lIns="0" tIns="0" rIns="0" bIns="0">
            <a:spAutoFit/>
          </a:bodyPr>
          <a:lstStyle/>
          <a:p>
            <a:pPr algn="l"/>
            <a:r>
              <a:rPr sz="1100" b="0" i="0">
                <a:solidFill>
                  <a:srgbClr val="FFFFFF"/>
                </a:solidFill>
                <a:latin typeface="Candal"/>
              </a:rPr>
              <a:t>WEEK 2 (Days 8–14): GitHub Bot &amp; Runtime Verification</a:t>
            </a:r>
          </a:p>
        </p:txBody>
      </p:sp>
      <p:sp>
        <p:nvSpPr>
          <p:cNvPr id="26" name="TextBox 25"/>
          <p:cNvSpPr txBox="1"/>
          <p:nvPr/>
        </p:nvSpPr>
        <p:spPr>
          <a:xfrm>
            <a:off x="6428232" y="2240280"/>
            <a:ext cx="5029200" cy="237744"/>
          </a:xfrm>
          <a:prstGeom prst="rect">
            <a:avLst/>
          </a:prstGeom>
          <a:noFill/>
        </p:spPr>
        <p:txBody>
          <a:bodyPr wrap="square" lIns="0" tIns="0" rIns="0" bIns="0">
            <a:spAutoFit/>
          </a:bodyPr>
          <a:lstStyle/>
          <a:p>
            <a:pPr algn="l"/>
            <a:r>
              <a:rPr sz="1050" b="1" i="0">
                <a:solidFill>
                  <a:srgbClr val="2E7D52"/>
                </a:solidFill>
                <a:latin typeface="Georgia"/>
              </a:rPr>
              <a:t>• Day 8–10: GitHub Actions PR Bot Integration</a:t>
            </a:r>
          </a:p>
        </p:txBody>
      </p:sp>
      <p:sp>
        <p:nvSpPr>
          <p:cNvPr id="27" name="TextBox 26"/>
          <p:cNvSpPr txBox="1"/>
          <p:nvPr/>
        </p:nvSpPr>
        <p:spPr>
          <a:xfrm>
            <a:off x="6592824" y="2496312"/>
            <a:ext cx="4846320" cy="822960"/>
          </a:xfrm>
          <a:prstGeom prst="rect">
            <a:avLst/>
          </a:prstGeom>
          <a:noFill/>
        </p:spPr>
        <p:txBody>
          <a:bodyPr wrap="square" lIns="0" tIns="0" rIns="0" bIns="0">
            <a:spAutoFit/>
          </a:bodyPr>
          <a:lstStyle/>
          <a:p>
            <a:pPr algn="l"/>
            <a:r>
              <a:rPr sz="950" b="0" i="0">
                <a:solidFill>
                  <a:srgbClr val="343434"/>
                </a:solidFill>
                <a:latin typeface="Georgia"/>
              </a:rPr>
              <a:t>Wrap run_pipeline.py into a reusable GitHub Action that audits incoming pull requests in CI/CD, automatically commenting with SHAP explanations and validated patch diffs.</a:t>
            </a:r>
          </a:p>
        </p:txBody>
      </p:sp>
      <p:sp>
        <p:nvSpPr>
          <p:cNvPr id="28" name="TextBox 27"/>
          <p:cNvSpPr txBox="1"/>
          <p:nvPr/>
        </p:nvSpPr>
        <p:spPr>
          <a:xfrm>
            <a:off x="6428232" y="3566160"/>
            <a:ext cx="5029200" cy="237744"/>
          </a:xfrm>
          <a:prstGeom prst="rect">
            <a:avLst/>
          </a:prstGeom>
          <a:noFill/>
        </p:spPr>
        <p:txBody>
          <a:bodyPr wrap="square" lIns="0" tIns="0" rIns="0" bIns="0">
            <a:spAutoFit/>
          </a:bodyPr>
          <a:lstStyle/>
          <a:p>
            <a:pPr algn="l"/>
            <a:r>
              <a:rPr sz="1050" b="1" i="0">
                <a:solidFill>
                  <a:srgbClr val="2E7D52"/>
                </a:solidFill>
                <a:latin typeface="Georgia"/>
              </a:rPr>
              <a:t>• Day 11–12: Graph Mini-Batching (GraphSAINT)</a:t>
            </a:r>
          </a:p>
        </p:txBody>
      </p:sp>
      <p:sp>
        <p:nvSpPr>
          <p:cNvPr id="29" name="TextBox 28"/>
          <p:cNvSpPr txBox="1"/>
          <p:nvPr/>
        </p:nvSpPr>
        <p:spPr>
          <a:xfrm>
            <a:off x="6592824" y="3822192"/>
            <a:ext cx="4846320" cy="822960"/>
          </a:xfrm>
          <a:prstGeom prst="rect">
            <a:avLst/>
          </a:prstGeom>
          <a:noFill/>
        </p:spPr>
        <p:txBody>
          <a:bodyPr wrap="square" lIns="0" tIns="0" rIns="0" bIns="0">
            <a:spAutoFit/>
          </a:bodyPr>
          <a:lstStyle/>
          <a:p>
            <a:pPr algn="l"/>
            <a:r>
              <a:rPr sz="950" b="0" i="0">
                <a:solidFill>
                  <a:srgbClr val="343434"/>
                </a:solidFill>
                <a:latin typeface="Georgia"/>
              </a:rPr>
              <a:t>Implement mini-batch subgraph sampling using PyTorch Geometric GraphSAINT, allowing the GNN to scale to enterprise graphs with 100,000+ nodes without OOM errors.</a:t>
            </a:r>
          </a:p>
        </p:txBody>
      </p:sp>
      <p:sp>
        <p:nvSpPr>
          <p:cNvPr id="30" name="TextBox 29"/>
          <p:cNvSpPr txBox="1"/>
          <p:nvPr/>
        </p:nvSpPr>
        <p:spPr>
          <a:xfrm>
            <a:off x="6428232" y="4892040"/>
            <a:ext cx="5029200" cy="237744"/>
          </a:xfrm>
          <a:prstGeom prst="rect">
            <a:avLst/>
          </a:prstGeom>
          <a:noFill/>
        </p:spPr>
        <p:txBody>
          <a:bodyPr wrap="square" lIns="0" tIns="0" rIns="0" bIns="0">
            <a:spAutoFit/>
          </a:bodyPr>
          <a:lstStyle/>
          <a:p>
            <a:pPr algn="l"/>
            <a:r>
              <a:rPr sz="1050" b="1" i="0">
                <a:solidFill>
                  <a:srgbClr val="2E7D52"/>
                </a:solidFill>
                <a:latin typeface="Georgia"/>
              </a:rPr>
              <a:t>• Day 13–14: Dynamic Runtime Syscall Cross-Check (Falco)</a:t>
            </a:r>
          </a:p>
        </p:txBody>
      </p:sp>
      <p:sp>
        <p:nvSpPr>
          <p:cNvPr id="31" name="TextBox 30"/>
          <p:cNvSpPr txBox="1"/>
          <p:nvPr/>
        </p:nvSpPr>
        <p:spPr>
          <a:xfrm>
            <a:off x="6592824" y="5148072"/>
            <a:ext cx="4846320" cy="822960"/>
          </a:xfrm>
          <a:prstGeom prst="rect">
            <a:avLst/>
          </a:prstGeom>
          <a:noFill/>
        </p:spPr>
        <p:txBody>
          <a:bodyPr wrap="square" lIns="0" tIns="0" rIns="0" bIns="0">
            <a:spAutoFit/>
          </a:bodyPr>
          <a:lstStyle/>
          <a:p>
            <a:pPr algn="l"/>
            <a:r>
              <a:rPr sz="950" b="0" i="0">
                <a:solidFill>
                  <a:srgbClr val="343434"/>
                </a:solidFill>
                <a:latin typeface="Georgia"/>
              </a:rPr>
              <a:t>Correlate static manifest vulnerabilities with Falco eBPF runtime alerts, validating that flagged configs actively prevent container escape exploits in live minikube testing.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EB"/>
        </a:solidFill>
        <a:effectLst/>
      </p:bgPr>
    </p:bg>
    <p:spTree>
      <p:nvGrpSpPr>
        <p:cNvPr id="1" name=""/>
        <p:cNvGrpSpPr/>
        <p:nvPr/>
      </p:nvGrpSpPr>
      <p:grpSpPr/>
      <p:sp>
        <p:nvSpPr>
          <p:cNvPr id="2" name="Oval 1"/>
          <p:cNvSpPr/>
          <p:nvPr/>
        </p:nvSpPr>
        <p:spPr>
          <a:xfrm>
            <a:off x="10149840" y="-36576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81360" y="-292608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474720" y="5486400"/>
            <a:ext cx="5120640" cy="5120640"/>
          </a:xfrm>
          <a:prstGeom prst="ellipse">
            <a:avLst/>
          </a:prstGeom>
          <a:solidFill>
            <a:srgbClr val="D0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0" y="6217920"/>
            <a:ext cx="3657600" cy="3657600"/>
          </a:xfrm>
          <a:prstGeom prst="ellipse">
            <a:avLst/>
          </a:prstGeom>
          <a:solidFill>
            <a:srgbClr val="F6F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07040" y="6035040"/>
            <a:ext cx="2194560" cy="219456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65760" y="-1005840"/>
            <a:ext cx="1645920" cy="1645920"/>
          </a:xfrm>
          <a:prstGeom prst="ellipse">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647688"/>
            <a:ext cx="12191695" cy="210312"/>
          </a:xfrm>
          <a:prstGeom prst="rect">
            <a:avLst/>
          </a:prstGeom>
          <a:solidFill>
            <a:srgbClr val="EE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65976"/>
            <a:ext cx="11064240" cy="182880"/>
          </a:xfrm>
          <a:prstGeom prst="rect">
            <a:avLst/>
          </a:prstGeom>
          <a:noFill/>
        </p:spPr>
        <p:txBody>
          <a:bodyPr wrap="square" lIns="0" tIns="0" rIns="0" bIns="0">
            <a:spAutoFit/>
          </a:bodyPr>
          <a:lstStyle/>
          <a:p>
            <a:pPr algn="l"/>
            <a:r>
              <a:rPr sz="850" b="0" i="0">
                <a:solidFill>
                  <a:srgbClr val="6E748A"/>
                </a:solidFill>
                <a:latin typeface="Georgia"/>
              </a:rPr>
              <a:t>Cloud Misconfiguration Detection Using Machine Learning  |  Group 8  |  Slide 9 of 9</a:t>
            </a:r>
          </a:p>
        </p:txBody>
      </p:sp>
      <p:sp>
        <p:nvSpPr>
          <p:cNvPr id="10" name="TextBox 9"/>
          <p:cNvSpPr txBox="1"/>
          <p:nvPr/>
        </p:nvSpPr>
        <p:spPr>
          <a:xfrm>
            <a:off x="548640" y="256032"/>
            <a:ext cx="10058400" cy="228600"/>
          </a:xfrm>
          <a:prstGeom prst="rect">
            <a:avLst/>
          </a:prstGeom>
          <a:noFill/>
        </p:spPr>
        <p:txBody>
          <a:bodyPr wrap="square" lIns="0" tIns="0" rIns="0" bIns="0">
            <a:spAutoFit/>
          </a:bodyPr>
          <a:lstStyle/>
          <a:p>
            <a:pPr algn="l"/>
            <a:r>
              <a:rPr sz="900" b="1" i="0">
                <a:solidFill>
                  <a:srgbClr val="5C6898"/>
                </a:solidFill>
                <a:latin typeface="Georgia"/>
              </a:rPr>
              <a:t>SECTION VII — REPRODUCIBILITY</a:t>
            </a:r>
          </a:p>
        </p:txBody>
      </p:sp>
      <p:sp>
        <p:nvSpPr>
          <p:cNvPr id="11" name="TextBox 10"/>
          <p:cNvSpPr txBox="1"/>
          <p:nvPr/>
        </p:nvSpPr>
        <p:spPr>
          <a:xfrm>
            <a:off x="548640" y="502920"/>
            <a:ext cx="10515600" cy="777240"/>
          </a:xfrm>
          <a:prstGeom prst="rect">
            <a:avLst/>
          </a:prstGeom>
          <a:noFill/>
        </p:spPr>
        <p:txBody>
          <a:bodyPr wrap="square" lIns="0" tIns="0" rIns="0" bIns="0">
            <a:spAutoFit/>
          </a:bodyPr>
          <a:lstStyle/>
          <a:p>
            <a:pPr algn="l"/>
            <a:r>
              <a:rPr sz="2400" b="0" i="0">
                <a:solidFill>
                  <a:srgbClr val="2C3461"/>
                </a:solidFill>
                <a:latin typeface="Candal"/>
              </a:rPr>
              <a:t>Source Code, Executable Notebook &amp; Deployment Links</a:t>
            </a:r>
          </a:p>
        </p:txBody>
      </p:sp>
      <p:sp>
        <p:nvSpPr>
          <p:cNvPr id="12" name="Rectangle 11"/>
          <p:cNvSpPr/>
          <p:nvPr/>
        </p:nvSpPr>
        <p:spPr>
          <a:xfrm>
            <a:off x="548640" y="1261872"/>
            <a:ext cx="1645920" cy="36576"/>
          </a:xfrm>
          <a:prstGeom prst="rect">
            <a:avLst/>
          </a:prstGeom>
          <a:solidFill>
            <a:srgbClr val="5C6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371600"/>
            <a:ext cx="10515600" cy="256032"/>
          </a:xfrm>
          <a:prstGeom prst="rect">
            <a:avLst/>
          </a:prstGeom>
          <a:noFill/>
        </p:spPr>
        <p:txBody>
          <a:bodyPr wrap="square" lIns="0" tIns="0" rIns="0" bIns="0">
            <a:spAutoFit/>
          </a:bodyPr>
          <a:lstStyle/>
          <a:p>
            <a:pPr algn="l"/>
            <a:r>
              <a:rPr sz="1050" b="0" i="1">
                <a:solidFill>
                  <a:srgbClr val="6E748A"/>
                </a:solidFill>
                <a:latin typeface="Georgia"/>
              </a:rPr>
              <a:t>All code, trained model weights, benchmark datasets, and experiments are open-source and reproducible.</a:t>
            </a:r>
          </a:p>
        </p:txBody>
      </p:sp>
      <p:sp>
        <p:nvSpPr>
          <p:cNvPr id="14" name="Rounded Rectangle 13"/>
          <p:cNvSpPr/>
          <p:nvPr/>
        </p:nvSpPr>
        <p:spPr>
          <a:xfrm>
            <a:off x="548640" y="1737360"/>
            <a:ext cx="5486400" cy="219456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1737360"/>
            <a:ext cx="5486400" cy="347472"/>
          </a:xfrm>
          <a:prstGeom prst="rect">
            <a:avLst/>
          </a:prstGeom>
          <a:solidFill>
            <a:srgbClr val="2C34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783080"/>
            <a:ext cx="5212080" cy="256032"/>
          </a:xfrm>
          <a:prstGeom prst="rect">
            <a:avLst/>
          </a:prstGeom>
          <a:noFill/>
        </p:spPr>
        <p:txBody>
          <a:bodyPr wrap="square" lIns="0" tIns="0" rIns="0" bIns="0">
            <a:spAutoFit/>
          </a:bodyPr>
          <a:lstStyle/>
          <a:p>
            <a:pPr algn="l"/>
            <a:r>
              <a:rPr sz="1100" b="1" i="0">
                <a:solidFill>
                  <a:srgbClr val="FFFFFF"/>
                </a:solidFill>
                <a:latin typeface="Georgia"/>
              </a:rPr>
              <a:t>GitHub Repository (Complete Source Code)</a:t>
            </a:r>
          </a:p>
        </p:txBody>
      </p:sp>
      <p:sp>
        <p:nvSpPr>
          <p:cNvPr id="17" name="TextBox 16"/>
          <p:cNvSpPr txBox="1"/>
          <p:nvPr/>
        </p:nvSpPr>
        <p:spPr>
          <a:xfrm>
            <a:off x="685800" y="2176272"/>
            <a:ext cx="5212080" cy="1645920"/>
          </a:xfrm>
          <a:prstGeom prst="rect">
            <a:avLst/>
          </a:prstGeom>
          <a:noFill/>
        </p:spPr>
        <p:txBody>
          <a:bodyPr wrap="square" lIns="0" tIns="0" rIns="0" bIns="0">
            <a:spAutoFit/>
          </a:bodyPr>
          <a:lstStyle/>
          <a:p>
            <a:pPr>
              <a:spcAft>
                <a:spcPts val="400"/>
              </a:spcAft>
            </a:pPr>
            <a:r>
              <a:rPr sz="1050" b="1" i="0">
                <a:solidFill>
                  <a:srgbClr val="2C3461"/>
                </a:solidFill>
                <a:latin typeface="Georgia"/>
              </a:rPr>
              <a:t>URL: </a:t>
            </a:r>
          </a:p>
          <a:p>
            <a:pPr>
              <a:spcAft>
                <a:spcPts val="400"/>
              </a:spcAft>
            </a:pPr>
            <a:r>
              <a:rPr sz="1050" b="1" i="0">
                <a:solidFill>
                  <a:srgbClr val="5C6898"/>
                </a:solidFill>
                <a:latin typeface="Georgia"/>
              </a:rPr>
              <a:t>https://github.com/robiul-tamim/cloud-misconfig-ml
</a:t>
            </a:r>
          </a:p>
          <a:p>
            <a:pPr>
              <a:spcAft>
                <a:spcPts val="400"/>
              </a:spcAft>
            </a:pPr>
            <a:r>
              <a:rPr sz="950" b="0" i="0">
                <a:solidFill>
                  <a:srgbClr val="343434"/>
                </a:solidFill>
                <a:latin typeface="Georgia"/>
              </a:rPr>
              <a:t>• Contains all 4 pipeline stages, AST extractor, and GNN model
</a:t>
            </a:r>
          </a:p>
          <a:p>
            <a:pPr>
              <a:spcAft>
                <a:spcPts val="400"/>
              </a:spcAft>
            </a:pPr>
            <a:r>
              <a:rPr sz="950" b="0" i="0">
                <a:solidFill>
                  <a:srgbClr val="343434"/>
                </a:solidFill>
                <a:latin typeface="Georgia"/>
              </a:rPr>
              <a:t>• Includes benchmark datasets (1,100 manifests) and trained weights
</a:t>
            </a:r>
          </a:p>
          <a:p>
            <a:pPr>
              <a:spcAft>
                <a:spcPts val="400"/>
              </a:spcAft>
            </a:pPr>
            <a:r>
              <a:rPr sz="950" b="0" i="0">
                <a:solidFill>
                  <a:srgbClr val="343434"/>
                </a:solidFill>
                <a:latin typeface="Georgia"/>
              </a:rPr>
              <a:t>• Full documentation, requirements.txt, and one-click run script</a:t>
            </a:r>
          </a:p>
        </p:txBody>
      </p:sp>
      <p:sp>
        <p:nvSpPr>
          <p:cNvPr id="18" name="Rounded Rectangle 17"/>
          <p:cNvSpPr/>
          <p:nvPr/>
        </p:nvSpPr>
        <p:spPr>
          <a:xfrm>
            <a:off x="548640" y="4114800"/>
            <a:ext cx="5486400" cy="2240280"/>
          </a:xfrm>
          <a:prstGeom prst="roundRect">
            <a:avLst/>
          </a:prstGeom>
          <a:solidFill>
            <a:srgbClr val="EEEB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114800"/>
            <a:ext cx="5486400" cy="347472"/>
          </a:xfrm>
          <a:prstGeom prst="rect">
            <a:avLst/>
          </a:prstGeom>
          <a:solidFill>
            <a:srgbClr val="C49A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160520"/>
            <a:ext cx="5212080" cy="256032"/>
          </a:xfrm>
          <a:prstGeom prst="rect">
            <a:avLst/>
          </a:prstGeom>
          <a:noFill/>
        </p:spPr>
        <p:txBody>
          <a:bodyPr wrap="square" lIns="0" tIns="0" rIns="0" bIns="0">
            <a:spAutoFit/>
          </a:bodyPr>
          <a:lstStyle/>
          <a:p>
            <a:pPr algn="l"/>
            <a:r>
              <a:rPr sz="1100" b="1" i="0">
                <a:solidFill>
                  <a:srgbClr val="FFFFFF"/>
                </a:solidFill>
                <a:latin typeface="Georgia"/>
              </a:rPr>
              <a:t>Google Colab Notebook (Live Executable Demo)</a:t>
            </a:r>
          </a:p>
        </p:txBody>
      </p:sp>
      <p:sp>
        <p:nvSpPr>
          <p:cNvPr id="21" name="TextBox 20"/>
          <p:cNvSpPr txBox="1"/>
          <p:nvPr/>
        </p:nvSpPr>
        <p:spPr>
          <a:xfrm>
            <a:off x="685800" y="4553712"/>
            <a:ext cx="5212080" cy="1645920"/>
          </a:xfrm>
          <a:prstGeom prst="rect">
            <a:avLst/>
          </a:prstGeom>
          <a:noFill/>
        </p:spPr>
        <p:txBody>
          <a:bodyPr wrap="square" lIns="0" tIns="0" rIns="0" bIns="0">
            <a:spAutoFit/>
          </a:bodyPr>
          <a:lstStyle/>
          <a:p>
            <a:pPr>
              <a:spcAft>
                <a:spcPts val="400"/>
              </a:spcAft>
            </a:pPr>
            <a:r>
              <a:rPr sz="1050" b="1" i="0">
                <a:solidFill>
                  <a:srgbClr val="2C3461"/>
                </a:solidFill>
                <a:latin typeface="Georgia"/>
              </a:rPr>
              <a:t>Colab URL: </a:t>
            </a:r>
          </a:p>
          <a:p>
            <a:pPr>
              <a:spcAft>
                <a:spcPts val="400"/>
              </a:spcAft>
            </a:pPr>
            <a:r>
              <a:rPr sz="1000" b="1" i="0">
                <a:solidFill>
                  <a:srgbClr val="5C6898"/>
                </a:solidFill>
                <a:latin typeface="Georgia"/>
              </a:rPr>
              <a:t>https://colab.research.google.com/drive/cloud-misconfig-ml
</a:t>
            </a:r>
          </a:p>
          <a:p>
            <a:pPr>
              <a:spcAft>
                <a:spcPts val="400"/>
              </a:spcAft>
            </a:pPr>
            <a:r>
              <a:rPr sz="950" b="0" i="0">
                <a:solidFill>
                  <a:srgbClr val="343434"/>
                </a:solidFill>
                <a:latin typeface="Georgia"/>
              </a:rPr>
              <a:t>• Interactive execution of RF Triage and GNN graph message passing
</a:t>
            </a:r>
          </a:p>
          <a:p>
            <a:pPr>
              <a:spcAft>
                <a:spcPts val="400"/>
              </a:spcAft>
            </a:pPr>
            <a:r>
              <a:rPr sz="950" b="0" i="0">
                <a:solidFill>
                  <a:srgbClr val="343434"/>
                </a:solidFill>
                <a:latin typeface="Georgia"/>
              </a:rPr>
              <a:t>• Visualizes SHAP feature attributions and live patch generation
</a:t>
            </a:r>
          </a:p>
          <a:p>
            <a:pPr>
              <a:spcAft>
                <a:spcPts val="400"/>
              </a:spcAft>
            </a:pPr>
            <a:r>
              <a:rPr sz="950" b="0" i="0">
                <a:solidFill>
                  <a:srgbClr val="343434"/>
                </a:solidFill>
                <a:latin typeface="Georgia"/>
              </a:rPr>
              <a:t>• Zero local setup required — runs in browser GPU/CPU environment</a:t>
            </a:r>
          </a:p>
        </p:txBody>
      </p:sp>
      <p:sp>
        <p:nvSpPr>
          <p:cNvPr id="22" name="Rounded Rectangle 21"/>
          <p:cNvSpPr/>
          <p:nvPr/>
        </p:nvSpPr>
        <p:spPr>
          <a:xfrm>
            <a:off x="6263640" y="1737360"/>
            <a:ext cx="5376672" cy="4617720"/>
          </a:xfrm>
          <a:prstGeom prst="roundRect">
            <a:avLst/>
          </a:prstGeom>
          <a:solidFill>
            <a:srgbClr val="ECE9E0"/>
          </a:solidFill>
          <a:ln w="10160">
            <a:solidFill>
              <a:srgbClr val="D0D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1737360"/>
            <a:ext cx="5376672" cy="347472"/>
          </a:xfrm>
          <a:prstGeom prst="rect">
            <a:avLst/>
          </a:prstGeom>
          <a:solidFill>
            <a:srgbClr val="2E7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1783080"/>
            <a:ext cx="5120640" cy="256032"/>
          </a:xfrm>
          <a:prstGeom prst="rect">
            <a:avLst/>
          </a:prstGeom>
          <a:noFill/>
        </p:spPr>
        <p:txBody>
          <a:bodyPr wrap="square" lIns="0" tIns="0" rIns="0" bIns="0">
            <a:spAutoFit/>
          </a:bodyPr>
          <a:lstStyle/>
          <a:p>
            <a:pPr algn="l"/>
            <a:r>
              <a:rPr sz="1100" b="1" i="0">
                <a:solidFill>
                  <a:srgbClr val="FFFFFF"/>
                </a:solidFill>
                <a:latin typeface="Georgia"/>
              </a:rPr>
              <a:t>Quick Start / Reproduction Commands</a:t>
            </a:r>
          </a:p>
        </p:txBody>
      </p:sp>
      <p:sp>
        <p:nvSpPr>
          <p:cNvPr id="25" name="TextBox 24"/>
          <p:cNvSpPr txBox="1"/>
          <p:nvPr/>
        </p:nvSpPr>
        <p:spPr>
          <a:xfrm>
            <a:off x="6400800" y="2176272"/>
            <a:ext cx="5120640" cy="4023360"/>
          </a:xfrm>
          <a:prstGeom prst="rect">
            <a:avLst/>
          </a:prstGeom>
          <a:noFill/>
        </p:spPr>
        <p:txBody>
          <a:bodyPr wrap="square" lIns="0" tIns="0" rIns="0" bIns="0">
            <a:spAutoFit/>
          </a:bodyPr>
          <a:lstStyle/>
          <a:p>
            <a:pPr algn="l"/>
            <a:r>
              <a:rPr sz="919" b="0" i="0">
                <a:solidFill>
                  <a:srgbClr val="343434"/>
                </a:solidFill>
                <a:latin typeface="Consolas"/>
              </a:rPr>
              <a:t># 1. Clone &amp; Enter Project Repository
git clone https://github.com/robiul-tamim/cloud-misconfig-ml
cd cloud-misconfig-ml
# 2. Set up Python Environment
python -m venv venv
venv\Scripts\activate
pip install -r requirements.txt
# 3. Audit any manifest with full 4-stage pipeline
python scripts/run_pipeline.py --input data/raw/kubernetes/k8s_MISCONFIGURED_0000.yaml
# 4. Open Interactive Jupyter Notebook
jupyter notebook notebooks/cloud_misconfig_experiments.ipynb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